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51ae96aa-3824-9b99-d8a1-3881033583d9}">
          <p14:sldIdLst>
            <p14:sldId id="256"/>
            <p14:sldId id="257"/>
          </p14:sldIdLst>
        </p14:section>
        <p14:section name="Method" id="{402d6db1-e3c2-177f-3df0-844f27b2a3ed}">
          <p14:sldIdLst>
            <p14:sldId id="258"/>
            <p14:sldId id="259"/>
            <p14:sldId id="260"/>
          </p14:sldIdLst>
        </p14:section>
        <p14:section name="Results" id="{ee18a7a2-a9ee-9722-4921-b6d0bc81d572}">
          <p14:sldIdLst>
            <p14:sldId id="261"/>
            <p14:sldId id="262"/>
            <p14:sldId id="263"/>
          </p14:sldIdLst>
        </p14:section>
        <p14:section name="The gap" id="{43a3fd91-3f50-2a8a-3871-470d271a1d3d}">
          <p14:sldIdLst>
            <p14:sldId id="264"/>
            <p14:sldId id="265"/>
          </p14:sldIdLst>
        </p14:section>
        <p14:section name="Wrap-up" id="{92003bd1-bd1b-981e-fa76-3f7060fca534}">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XGBoost</c:v>
                </c:pt>
              </c:strCache>
            </c:strRef>
          </c:tx>
          <c:spPr>
            <a:solidFill>
              <a:srgbClr val="2A78D6"/>
            </a:solidFill>
            <a:ln w="2857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A78D6"/>
              </a:solidFill>
              <a:ln w="9525" cap="flat">
                <a:solidFill>
                  <a:srgbClr val="2A78D6"/>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Sheet1!$B$2:$B$13</c:f>
              <c:numCache>
                <c:formatCode>General</c:formatCode>
                <c:ptCount val="12"/>
                <c:pt idx="0">
                  <c:v>2.385</c:v>
                </c:pt>
                <c:pt idx="1">
                  <c:v>2.753</c:v>
                </c:pt>
                <c:pt idx="2">
                  <c:v>3.015</c:v>
                </c:pt>
                <c:pt idx="3">
                  <c:v>3.21</c:v>
                </c:pt>
                <c:pt idx="4">
                  <c:v>3.376</c:v>
                </c:pt>
                <c:pt idx="5">
                  <c:v>3.51</c:v>
                </c:pt>
                <c:pt idx="6">
                  <c:v>3.63</c:v>
                </c:pt>
                <c:pt idx="7">
                  <c:v>3.73</c:v>
                </c:pt>
                <c:pt idx="8">
                  <c:v>3.814</c:v>
                </c:pt>
                <c:pt idx="9">
                  <c:v>3.885</c:v>
                </c:pt>
                <c:pt idx="10">
                  <c:v>3.952</c:v>
                </c:pt>
                <c:pt idx="11">
                  <c:v>4.006</c:v>
                </c:pt>
              </c:numCache>
            </c:numRef>
          </c:val>
          <c:smooth val="0"/>
        </c:ser>
        <c:ser>
          <c:idx val="1"/>
          <c:order val="1"/>
          <c:tx>
            <c:strRef>
              <c:f>Sheet1!$C$1</c:f>
              <c:strCache>
                <c:ptCount val="1"/>
                <c:pt idx="0">
                  <c:v>LSTM (no graph)</c:v>
                </c:pt>
              </c:strCache>
            </c:strRef>
          </c:tx>
          <c:spPr>
            <a:solidFill>
              <a:srgbClr val="1BAF7A"/>
            </a:solidFill>
            <a:ln w="28575"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BAF7A"/>
              </a:solidFill>
              <a:ln w="9525" cap="flat">
                <a:solidFill>
                  <a:srgbClr val="1BAF7A"/>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Sheet1!$C$2:$C$13</c:f>
              <c:numCache>
                <c:formatCode>General</c:formatCode>
                <c:ptCount val="12"/>
                <c:pt idx="0">
                  <c:v>2.375</c:v>
                </c:pt>
                <c:pt idx="1">
                  <c:v>2.718</c:v>
                </c:pt>
                <c:pt idx="2">
                  <c:v>2.972</c:v>
                </c:pt>
                <c:pt idx="3">
                  <c:v>3.187</c:v>
                </c:pt>
                <c:pt idx="4">
                  <c:v>3.378</c:v>
                </c:pt>
                <c:pt idx="5">
                  <c:v>3.552</c:v>
                </c:pt>
                <c:pt idx="6">
                  <c:v>3.709</c:v>
                </c:pt>
                <c:pt idx="7">
                  <c:v>3.854</c:v>
                </c:pt>
                <c:pt idx="8">
                  <c:v>3.986</c:v>
                </c:pt>
                <c:pt idx="9">
                  <c:v>4.115</c:v>
                </c:pt>
                <c:pt idx="10">
                  <c:v>4.237</c:v>
                </c:pt>
                <c:pt idx="11">
                  <c:v>4.351</c:v>
                </c:pt>
              </c:numCache>
            </c:numRef>
          </c:val>
          <c:smooth val="0"/>
        </c:ser>
        <c:ser>
          <c:idx val="2"/>
          <c:order val="2"/>
          <c:tx>
            <c:strRef>
              <c:f>Sheet1!$D$1</c:f>
              <c:strCache>
                <c:ptCount val="1"/>
                <c:pt idx="0">
                  <c:v>Random Forest</c:v>
                </c:pt>
              </c:strCache>
            </c:strRef>
          </c:tx>
          <c:spPr>
            <a:solidFill>
              <a:srgbClr val="EB6834"/>
            </a:solidFill>
            <a:ln w="28575"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B6834"/>
              </a:solidFill>
              <a:ln w="9525" cap="flat">
                <a:solidFill>
                  <a:srgbClr val="EB6834"/>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Sheet1!$D$2:$D$13</c:f>
              <c:numCache>
                <c:formatCode>General</c:formatCode>
                <c:ptCount val="12"/>
                <c:pt idx="0">
                  <c:v>2.425</c:v>
                </c:pt>
                <c:pt idx="1">
                  <c:v>2.801</c:v>
                </c:pt>
                <c:pt idx="2">
                  <c:v>3.078</c:v>
                </c:pt>
                <c:pt idx="3">
                  <c:v>3.308</c:v>
                </c:pt>
                <c:pt idx="4">
                  <c:v>3.505</c:v>
                </c:pt>
                <c:pt idx="5">
                  <c:v>3.679</c:v>
                </c:pt>
                <c:pt idx="6">
                  <c:v>3.836</c:v>
                </c:pt>
                <c:pt idx="7">
                  <c:v>3.977</c:v>
                </c:pt>
                <c:pt idx="8">
                  <c:v>4.104</c:v>
                </c:pt>
                <c:pt idx="9">
                  <c:v>4.223</c:v>
                </c:pt>
                <c:pt idx="10">
                  <c:v>4.336</c:v>
                </c:pt>
                <c:pt idx="11">
                  <c:v>4.445</c:v>
                </c:pt>
              </c:numCache>
            </c:numRef>
          </c:val>
          <c:smooth val="0"/>
        </c:ser>
        <c:ser>
          <c:idx val="3"/>
          <c:order val="3"/>
          <c:tx>
            <c:strRef>
              <c:f>Sheet1!$E$1</c:f>
              <c:strCache>
                <c:ptCount val="1"/>
                <c:pt idx="0">
                  <c:v>Ridge per sensor</c:v>
                </c:pt>
              </c:strCache>
            </c:strRef>
          </c:tx>
          <c:spPr>
            <a:solidFill>
              <a:srgbClr val="EDA100"/>
            </a:solidFill>
            <a:ln w="28575"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DA100"/>
              </a:solidFill>
              <a:ln w="9525" cap="flat">
                <a:solidFill>
                  <a:srgbClr val="EDA100"/>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Sheet1!$E$2:$E$13</c:f>
              <c:numCache>
                <c:formatCode>General</c:formatCode>
                <c:ptCount val="12"/>
                <c:pt idx="0">
                  <c:v>2.608</c:v>
                </c:pt>
                <c:pt idx="1">
                  <c:v>3.002</c:v>
                </c:pt>
                <c:pt idx="2">
                  <c:v>3.314</c:v>
                </c:pt>
                <c:pt idx="3">
                  <c:v>3.592</c:v>
                </c:pt>
                <c:pt idx="4">
                  <c:v>3.844</c:v>
                </c:pt>
                <c:pt idx="5">
                  <c:v>4.082</c:v>
                </c:pt>
                <c:pt idx="6">
                  <c:v>4.301</c:v>
                </c:pt>
                <c:pt idx="7">
                  <c:v>4.502</c:v>
                </c:pt>
                <c:pt idx="8">
                  <c:v>4.688</c:v>
                </c:pt>
                <c:pt idx="9">
                  <c:v>4.861</c:v>
                </c:pt>
                <c:pt idx="10">
                  <c:v>5.02</c:v>
                </c:pt>
                <c:pt idx="11">
                  <c:v>5.172</c:v>
                </c:pt>
              </c:numCache>
            </c:numRef>
          </c:val>
          <c:smooth val="0"/>
        </c:ser>
        <c:ser>
          <c:idx val="4"/>
          <c:order val="4"/>
          <c:tx>
            <c:strRef>
              <c:f>Sheet1!$F$1</c:f>
              <c:strCache>
                <c:ptCount val="1"/>
                <c:pt idx="0">
                  <c:v>Persistence</c:v>
                </c:pt>
              </c:strCache>
            </c:strRef>
          </c:tx>
          <c:spPr>
            <a:solidFill>
              <a:srgbClr val="5B6472"/>
            </a:solidFill>
            <a:ln w="28575" cap="flat">
              <a:solidFill>
                <a:srgbClr val="5B64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5B6472"/>
              </a:solidFill>
              <a:ln w="9525" cap="flat">
                <a:solidFill>
                  <a:srgbClr val="5B6472"/>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Sheet1!$F$2:$F$13</c:f>
              <c:numCache>
                <c:formatCode>General</c:formatCode>
                <c:ptCount val="12"/>
                <c:pt idx="0">
                  <c:v>2.812</c:v>
                </c:pt>
                <c:pt idx="1">
                  <c:v>3.204</c:v>
                </c:pt>
                <c:pt idx="2">
                  <c:v>3.492</c:v>
                </c:pt>
                <c:pt idx="3">
                  <c:v>3.743</c:v>
                </c:pt>
                <c:pt idx="4">
                  <c:v>3.972</c:v>
                </c:pt>
                <c:pt idx="5">
                  <c:v>4.195</c:v>
                </c:pt>
                <c:pt idx="6">
                  <c:v>4.41</c:v>
                </c:pt>
                <c:pt idx="7">
                  <c:v>4.614</c:v>
                </c:pt>
                <c:pt idx="8">
                  <c:v>4.806</c:v>
                </c:pt>
                <c:pt idx="9">
                  <c:v>4.996</c:v>
                </c:pt>
                <c:pt idx="10">
                  <c:v>5.181</c:v>
                </c:pt>
                <c:pt idx="11">
                  <c:v>5.366</c:v>
                </c:pt>
              </c:numCache>
            </c:numRef>
          </c:val>
          <c:smooth val="0"/>
        </c:ser>
        <c:ser>
          <c:idx val="5"/>
          <c:order val="5"/>
          <c:tx>
            <c:strRef>
              <c:f>Sheet1!$G$1</c:f>
              <c:strCache>
                <c:ptCount val="1"/>
                <c:pt idx="0">
                  <c:v>Historical avg</c:v>
                </c:pt>
              </c:strCache>
            </c:strRef>
          </c:tx>
          <c:spPr>
            <a:solidFill>
              <a:srgbClr val="9AA3B2"/>
            </a:solidFill>
            <a:ln w="28575" cap="flat">
              <a:solidFill>
                <a:srgbClr val="9AA3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9AA3B2"/>
              </a:solidFill>
              <a:ln w="9525" cap="flat">
                <a:solidFill>
                  <a:srgbClr val="9AA3B2"/>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Sheet1!$G$2:$G$13</c:f>
              <c:numCache>
                <c:formatCode>General</c:formatCode>
                <c:ptCount val="12"/>
                <c:pt idx="0">
                  <c:v>4.422</c:v>
                </c:pt>
                <c:pt idx="1">
                  <c:v>4.421</c:v>
                </c:pt>
                <c:pt idx="2">
                  <c:v>4.421</c:v>
                </c:pt>
                <c:pt idx="3">
                  <c:v>4.421</c:v>
                </c:pt>
                <c:pt idx="4">
                  <c:v>4.421</c:v>
                </c:pt>
                <c:pt idx="5">
                  <c:v>4.421</c:v>
                </c:pt>
                <c:pt idx="6">
                  <c:v>4.421</c:v>
                </c:pt>
                <c:pt idx="7">
                  <c:v>4.421</c:v>
                </c:pt>
                <c:pt idx="8">
                  <c:v>4.421</c:v>
                </c:pt>
                <c:pt idx="9">
                  <c:v>4.421</c:v>
                </c:pt>
                <c:pt idx="10">
                  <c:v>4.422</c:v>
                </c:pt>
                <c:pt idx="11">
                  <c:v>4.422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472"/>
                    </a:solidFill>
                    <a:latin typeface="Arial"/>
                  </a:defRPr>
                </a:pPr>
                <a:r>
                  <a:rPr sz="1100" b="0" i="0" u="none" strike="noStrike">
                    <a:solidFill>
                      <a:srgbClr val="5B6472"/>
                    </a:solidFill>
                    <a:latin typeface="Arial"/>
                  </a:rPr>
                  <a:t>forecast horizon (minutes)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6"/>
          <c:min val="2"/>
        </c:scaling>
        <c:delete val="0"/>
        <c:axPos val="l"/>
        <c:majorGridlines>
          <c:spPr>
            <a:ln w="9525" cap="flat">
              <a:solidFill>
                <a:srgbClr val="DDE3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0B17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Weekday peak</c:v>
                </c:pt>
              </c:strCache>
            </c:strRef>
          </c:tx>
          <c:spPr>
            <a:solidFill>
              <a:srgbClr val="EB6834"/>
            </a:solidFill>
            <a:effectLst/>
          </c:spPr>
          <c:invertIfNegative val="0"/>
          <c:dLbls>
            <c:numFmt formatCode="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cat>
            <c:multiLvlStrRef>
              <c:f>Sheet1!$A$2:$A$7</c:f>
              <c:multiLvlStrCache>
                <c:ptCount val="6"/>
                <c:lvl>
                  <c:pt idx="0">
                    <c:v>Persist.</c:v>
                  </c:pt>
                  <c:pt idx="1">
                    <c:v>Hist. avg</c:v>
                  </c:pt>
                  <c:pt idx="2">
                    <c:v>Ridge</c:v>
                  </c:pt>
                  <c:pt idx="3">
                    <c:v>Random Forest</c:v>
                  </c:pt>
                  <c:pt idx="4">
                    <c:v>LSTM</c:v>
                  </c:pt>
                  <c:pt idx="5">
                    <c:v>XGBoost</c:v>
                  </c:pt>
                </c:lvl>
              </c:multiLvlStrCache>
            </c:multiLvlStrRef>
          </c:cat>
          <c:val>
            <c:numRef>
              <c:f>Sheet1!$B$2:$B$7</c:f>
              <c:numCache>
                <c:formatCode>General</c:formatCode>
                <c:ptCount val="6"/>
                <c:pt idx="0">
                  <c:v>6.04</c:v>
                </c:pt>
                <c:pt idx="1">
                  <c:v>6.82</c:v>
                </c:pt>
                <c:pt idx="2">
                  <c:v>6.02</c:v>
                </c:pt>
                <c:pt idx="3">
                  <c:v>5.51</c:v>
                </c:pt>
                <c:pt idx="4">
                  <c:v>5.34</c:v>
                </c:pt>
                <c:pt idx="5">
                  <c:v>5.22</c:v>
                </c:pt>
              </c:numCache>
            </c:numRef>
          </c:val>
        </c:ser>
        <c:ser>
          <c:idx val="1"/>
          <c:order val="1"/>
          <c:tx>
            <c:strRef>
              <c:f>Sheet1!$C$1</c:f>
              <c:strCache>
                <c:ptCount val="1"/>
                <c:pt idx="0">
                  <c:v>Weekday off-peak</c:v>
                </c:pt>
              </c:strCache>
            </c:strRef>
          </c:tx>
          <c:spPr>
            <a:solidFill>
              <a:srgbClr val="2A78D6"/>
            </a:solidFill>
            <a:effectLst/>
          </c:spPr>
          <c:invertIfNegative val="0"/>
          <c:dLbls>
            <c:numFmt formatCode="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cat>
            <c:multiLvlStrRef>
              <c:f>Sheet1!$A$2:$A$7</c:f>
              <c:multiLvlStrCache>
                <c:ptCount val="6"/>
                <c:lvl>
                  <c:pt idx="0">
                    <c:v>Persist.</c:v>
                  </c:pt>
                  <c:pt idx="1">
                    <c:v>Hist. avg</c:v>
                  </c:pt>
                  <c:pt idx="2">
                    <c:v>Ridge</c:v>
                  </c:pt>
                  <c:pt idx="3">
                    <c:v>Random Forest</c:v>
                  </c:pt>
                  <c:pt idx="4">
                    <c:v>LSTM</c:v>
                  </c:pt>
                  <c:pt idx="5">
                    <c:v>XGBoost</c:v>
                  </c:pt>
                </c:lvl>
              </c:multiLvlStrCache>
            </c:multiLvlStrRef>
          </c:cat>
          <c:val>
            <c:numRef>
              <c:f>Sheet1!$C$2:$C$7</c:f>
              <c:numCache>
                <c:formatCode>General</c:formatCode>
                <c:ptCount val="6"/>
                <c:pt idx="0">
                  <c:v>3.74</c:v>
                </c:pt>
                <c:pt idx="1">
                  <c:v>3.58</c:v>
                </c:pt>
                <c:pt idx="2">
                  <c:v>3.56</c:v>
                </c:pt>
                <c:pt idx="3">
                  <c:v>3.15</c:v>
                </c:pt>
                <c:pt idx="4">
                  <c:v>3.09</c:v>
                </c:pt>
                <c:pt idx="5">
                  <c:v>3.01</c:v>
                </c:pt>
              </c:numCache>
            </c:numRef>
          </c:val>
        </c:ser>
        <c:ser>
          <c:idx val="2"/>
          <c:order val="2"/>
          <c:tx>
            <c:strRef>
              <c:f>Sheet1!$D$1</c:f>
              <c:strCache>
                <c:ptCount val="1"/>
                <c:pt idx="0">
                  <c:v>Weekend</c:v>
                </c:pt>
              </c:strCache>
            </c:strRef>
          </c:tx>
          <c:spPr>
            <a:solidFill>
              <a:srgbClr val="1BAF7A"/>
            </a:solidFill>
            <a:effectLst/>
          </c:spPr>
          <c:invertIfNegative val="0"/>
          <c:dLbls>
            <c:numFmt formatCode="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cat>
            <c:multiLvlStrRef>
              <c:f>Sheet1!$A$2:$A$7</c:f>
              <c:multiLvlStrCache>
                <c:ptCount val="6"/>
                <c:lvl>
                  <c:pt idx="0">
                    <c:v>Persist.</c:v>
                  </c:pt>
                  <c:pt idx="1">
                    <c:v>Hist. avg</c:v>
                  </c:pt>
                  <c:pt idx="2">
                    <c:v>Ridge</c:v>
                  </c:pt>
                  <c:pt idx="3">
                    <c:v>Random Forest</c:v>
                  </c:pt>
                  <c:pt idx="4">
                    <c:v>LSTM</c:v>
                  </c:pt>
                  <c:pt idx="5">
                    <c:v>XGBoost</c:v>
                  </c:pt>
                </c:lvl>
              </c:multiLvlStrCache>
            </c:multiLvlStrRef>
          </c:cat>
          <c:val>
            <c:numRef>
              <c:f>Sheet1!$D$2:$D$7</c:f>
              <c:numCache>
                <c:formatCode>General</c:formatCode>
                <c:ptCount val="6"/>
                <c:pt idx="0">
                  <c:v>3.31</c:v>
                </c:pt>
                <c:pt idx="1">
                  <c:v>3.94</c:v>
                </c:pt>
                <c:pt idx="2">
                  <c:v>3.27</c:v>
                </c:pt>
                <c:pt idx="3">
                  <c:v>3.02</c:v>
                </c:pt>
                <c:pt idx="4">
                  <c:v>2.75</c:v>
                </c:pt>
                <c:pt idx="5">
                  <c:v>2.9</c:v>
                </c:pt>
              </c:numCache>
            </c:numRef>
          </c:val>
        </c:ser>
        <c:dLbls>
          <c:numFmt formatCode="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DD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0B17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Within 30 min after a congestion onset</c:v>
                </c:pt>
              </c:strCache>
            </c:strRef>
          </c:tx>
          <c:spPr>
            <a:solidFill>
              <a:srgbClr val="D03B3B"/>
            </a:solidFill>
            <a:ln w="31750" cap="flat">
              <a:solidFill>
                <a:srgbClr val="D0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03B3B"/>
              </a:solidFill>
              <a:ln w="9525" cap="flat">
                <a:solidFill>
                  <a:srgbClr val="D03B3B"/>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Sheet1!$B$2:$B$13</c:f>
              <c:numCache>
                <c:formatCode>General</c:formatCode>
                <c:ptCount val="12"/>
                <c:pt idx="0">
                  <c:v>8.36</c:v>
                </c:pt>
                <c:pt idx="1">
                  <c:v>12.99</c:v>
                </c:pt>
                <c:pt idx="2">
                  <c:v>16.2</c:v>
                </c:pt>
                <c:pt idx="3">
                  <c:v>18.14</c:v>
                </c:pt>
                <c:pt idx="4">
                  <c:v>19.39</c:v>
                </c:pt>
                <c:pt idx="5">
                  <c:v>20.12</c:v>
                </c:pt>
                <c:pt idx="6">
                  <c:v>20.62</c:v>
                </c:pt>
                <c:pt idx="7">
                  <c:v>20.46</c:v>
                </c:pt>
                <c:pt idx="8">
                  <c:v>20.03</c:v>
                </c:pt>
                <c:pt idx="9">
                  <c:v>19.64</c:v>
                </c:pt>
                <c:pt idx="10">
                  <c:v>19.32</c:v>
                </c:pt>
                <c:pt idx="11">
                  <c:v>19.09</c:v>
                </c:pt>
              </c:numCache>
            </c:numRef>
          </c:val>
          <c:smooth val="0"/>
        </c:ser>
        <c:ser>
          <c:idx val="1"/>
          <c:order val="1"/>
          <c:tx>
            <c:strRef>
              <c:f>Sheet1!$C$1</c:f>
              <c:strCache>
                <c:ptCount val="1"/>
                <c:pt idx="0">
                  <c:v>All other times</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A78D6"/>
              </a:solidFill>
              <a:ln w="9525" cap="flat">
                <a:solidFill>
                  <a:srgbClr val="2A78D6"/>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Sheet1!$C$2:$C$13</c:f>
              <c:numCache>
                <c:formatCode>General</c:formatCode>
                <c:ptCount val="12"/>
                <c:pt idx="0">
                  <c:v>2.25</c:v>
                </c:pt>
                <c:pt idx="1">
                  <c:v>2.53</c:v>
                </c:pt>
                <c:pt idx="2">
                  <c:v>2.72</c:v>
                </c:pt>
                <c:pt idx="3">
                  <c:v>2.88</c:v>
                </c:pt>
                <c:pt idx="4">
                  <c:v>3.02</c:v>
                </c:pt>
                <c:pt idx="5">
                  <c:v>3.14</c:v>
                </c:pt>
                <c:pt idx="6">
                  <c:v>3.25</c:v>
                </c:pt>
                <c:pt idx="7">
                  <c:v>3.36</c:v>
                </c:pt>
                <c:pt idx="8">
                  <c:v>3.45</c:v>
                </c:pt>
                <c:pt idx="9">
                  <c:v>3.53</c:v>
                </c:pt>
                <c:pt idx="10">
                  <c:v>3.61</c:v>
                </c:pt>
                <c:pt idx="11">
                  <c:v>3.67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472"/>
                    </a:solidFill>
                    <a:latin typeface="Arial"/>
                  </a:defRPr>
                </a:pPr>
                <a:r>
                  <a:rPr sz="1100" b="0" i="0" u="none" strike="noStrike">
                    <a:solidFill>
                      <a:srgbClr val="5B6472"/>
                    </a:solidFill>
                    <a:latin typeface="Arial"/>
                  </a:rPr>
                  <a:t>forecast horizon (minutes)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DDE3EC"/>
              </a:solidFill>
              <a:prstDash val="solid"/>
              <a:round/>
            </a:ln>
          </c:spPr>
        </c:majorGridlines>
        <c:title>
          <c:tx>
            <c:rich>
              <a:bodyPr/>
              <a:lstStyle/>
              <a:p>
                <a:pPr>
                  <a:defRPr sz="1100" b="0" i="0" u="none" strike="noStrike">
                    <a:solidFill>
                      <a:srgbClr val="5B6472"/>
                    </a:solidFill>
                    <a:latin typeface="Arial"/>
                  </a:defRPr>
                </a:pPr>
                <a:r>
                  <a:rPr sz="1100" b="0" i="0" u="none" strike="noStrike">
                    <a:solidFill>
                      <a:srgbClr val="5B6472"/>
                    </a:solidFill>
                    <a:latin typeface="Arial"/>
                  </a:rPr>
                  <a:t>MAE (mph)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0B17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Own history only</c:v>
                </c:pt>
              </c:strCache>
            </c:strRef>
          </c:tx>
          <c:spPr>
            <a:solidFill>
              <a:srgbClr val="5B6472"/>
            </a:solidFill>
            <a:effectLst/>
          </c:spPr>
          <c:invertIfNegative val="0"/>
          <c:dLbls>
            <c:numFmt formatCode="0.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Sheet1!$B$2:$B$4</c:f>
              <c:numCache>
                <c:formatCode>General</c:formatCode>
                <c:ptCount val="3"/>
                <c:pt idx="0">
                  <c:v>3.015</c:v>
                </c:pt>
                <c:pt idx="1">
                  <c:v>3.51</c:v>
                </c:pt>
                <c:pt idx="2">
                  <c:v>4.006</c:v>
                </c:pt>
              </c:numCache>
            </c:numRef>
          </c:val>
        </c:ser>
        <c:ser>
          <c:idx val="1"/>
          <c:order val="1"/>
          <c:tx>
            <c:strRef>
              <c:f>Sheet1!$C$1</c:f>
              <c:strCache>
                <c:ptCount val="1"/>
                <c:pt idx="0">
                  <c:v>+ upstream</c:v>
                </c:pt>
              </c:strCache>
            </c:strRef>
          </c:tx>
          <c:spPr>
            <a:solidFill>
              <a:srgbClr val="1BAF7A"/>
            </a:solidFill>
            <a:effectLst/>
          </c:spPr>
          <c:invertIfNegative val="0"/>
          <c:dLbls>
            <c:numFmt formatCode="0.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Sheet1!$C$2:$C$4</c:f>
              <c:numCache>
                <c:formatCode>General</c:formatCode>
                <c:ptCount val="3"/>
                <c:pt idx="0">
                  <c:v>2.971</c:v>
                </c:pt>
                <c:pt idx="1">
                  <c:v>3.472</c:v>
                </c:pt>
                <c:pt idx="2">
                  <c:v>3.978</c:v>
                </c:pt>
              </c:numCache>
            </c:numRef>
          </c:val>
        </c:ser>
        <c:ser>
          <c:idx val="2"/>
          <c:order val="2"/>
          <c:tx>
            <c:strRef>
              <c:f>Sheet1!$D$1</c:f>
              <c:strCache>
                <c:ptCount val="1"/>
                <c:pt idx="0">
                  <c:v>+ downstream</c:v>
                </c:pt>
              </c:strCache>
            </c:strRef>
          </c:tx>
          <c:spPr>
            <a:solidFill>
              <a:srgbClr val="EDA100"/>
            </a:solidFill>
            <a:effectLst/>
          </c:spPr>
          <c:invertIfNegative val="0"/>
          <c:dLbls>
            <c:numFmt formatCode="0.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Sheet1!$D$2:$D$4</c:f>
              <c:numCache>
                <c:formatCode>General</c:formatCode>
                <c:ptCount val="3"/>
                <c:pt idx="0">
                  <c:v>2.945</c:v>
                </c:pt>
                <c:pt idx="1">
                  <c:v>3.461</c:v>
                </c:pt>
                <c:pt idx="2">
                  <c:v>3.971</c:v>
                </c:pt>
              </c:numCache>
            </c:numRef>
          </c:val>
        </c:ser>
        <c:ser>
          <c:idx val="3"/>
          <c:order val="3"/>
          <c:tx>
            <c:strRef>
              <c:f>Sheet1!$E$1</c:f>
              <c:strCache>
                <c:ptCount val="1"/>
                <c:pt idx="0">
                  <c:v>+ both directions</c:v>
                </c:pt>
              </c:strCache>
            </c:strRef>
          </c:tx>
          <c:spPr>
            <a:solidFill>
              <a:srgbClr val="2A78D6"/>
            </a:solidFill>
            <a:effectLst/>
          </c:spPr>
          <c:invertIfNegative val="0"/>
          <c:dLbls>
            <c:numFmt formatCode="0.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Sheet1!$E$2:$E$4</c:f>
              <c:numCache>
                <c:formatCode>General</c:formatCode>
                <c:ptCount val="3"/>
                <c:pt idx="0">
                  <c:v>2.908</c:v>
                </c:pt>
                <c:pt idx="1">
                  <c:v>3.418</c:v>
                </c:pt>
                <c:pt idx="2">
                  <c:v>3.949</c:v>
                </c:pt>
              </c:numCache>
            </c:numRef>
          </c:val>
        </c:ser>
        <c:dLbls>
          <c:numFmt formatCode="0.00" sourceLinked="0"/>
          <c:txPr>
            <a:bodyPr/>
            <a:lstStyle/>
            <a:p>
              <a:pPr>
                <a:defRPr b="0" i="0" strike="noStrike" sz="900" u="none">
                  <a:solidFill>
                    <a:srgbClr val="0B17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DD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0B17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project asks whether a model that sees the road network forecasts traffic speed better than strong per-sensor models. This deck covers the AML part: leak-free preprocessing, six baselines, and four experiments that measure the gap a graph model should close. The drawing shows the key idea: a jam forms downstream and spreads backwards, so the information a sensor needs is sitting at its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has three layers. We built and tested the first two completely: strong per-segment baselines, then evidence of exactly where they fail. The third layer, graph models, comes next and has to beat the numbers in this deck. Signal control is simulation only and is not part of the AML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METR-LA, 207 loop detectors, four months of 5-minute speeds. Two facts shape the whole project. First, 0 mph means the sensor was down, not that traffic stopped, so outages are masked everywhere. Second, the graph is directed and congestion moves backwards along it, which is why neighbours carry predictive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Fairness by construction. We split the timestamps chronologically, then cut windows, and drop the 11 windows whose targets would straddle a boundary. The scaler uses training timestamps only. The common reference script splits windows instead and lets train and validation targets overlap; we built both protocols and proved the overlap in a test. Twelve dedicated leakage tests guard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Each rung is one row in the results. The LSTM shares weights across all sensors and sees no graph, so if a graph model later beats it, the improvement comes from the graph rather than from deep learning in general. XGBoost and the Random Forest are the two models the brief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 XGBoost has the lowest error at 30 and 60 minutes and the lowest RMSE at every horizon; the LSTM edges it at 15 minutes. All models degrade as the horizon grows, which already hints at the gap: beyond about 15 minutes, the information a sensor needs is no longer in its own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score in one place: MAE, RMSE and MAPE at 15, 30 and 60 minutes, plus the pooled validation MAE. XGBoost is best on 7 of the 9 test columns; the LSTM wins MAE and MAPE at 15 minutes. The validation column is slightly lower than test for every model because the test period has more sensor outages (12 percent of targets masked versus 7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hours follow the brief: weekday 7 to 10 am and 4 to 8 pm on the timestamp being predicted. Every model is 1.4 to 1.95 times worse at peak than off-peak, and the penalty grows with the horizon. Rush hour is exactly when congestion forms and travels, so it is where a network-aware model has the most to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pieces of evidence that the per-sensor model misses propagation. One: error grows steadily with horizon. Two: in the 30 minutes after a congestion onset, error is five to six times higher; the model keeps forecasting free flow until the slowdown reaches its own history. Three: residual errors are correlated between sensors that are linked on the road graph (0.12 to 0.20 on one link) and not at all between unconnected sensors, so a shared spatial cause exists that the model ignores.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experiment. We hand XGBoost summaries of each sensor's neighbours: weighted mean speed now and earlier, the slowest neighbour, and the biggest recent drop. Same depth and budget, no extra tuning. Error falls at every horizon, most with both directions, and downstream neighbours help more than upstream, exactly as the propagation analysis predicts. But gains shrink at 60 minutes and linked residuals stay correlated, because one-hop hand-made features are weak. Learning which neighbours matter, several hops out, is the job of a graph attention or diffusion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The AML part is done and reproducible: make targets rebuild data, features, baselines and the gap experiments; 39 tests pass. Limitations to state: METR-LA is speed only, so flow and occupancy come from PeMS in a later phase; the data is 2012 freeways from one city; signal control will be simulation only. Next is Phase 5, the graph models, whose target is XGBoost's 3.02, 3.51 and 4.01 mph.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AML phase  |  Traffic flow forecasting on METR-LA</a:t>
            </a:r>
            <a:endParaRPr lang="en-US" sz="1000" dirty="0"/>
          </a:p>
        </p:txBody>
      </p:sp>
      <p:sp>
        <p:nvSpPr>
          <p:cNvPr id="3" name="Text 1"/>
          <p:cNvSpPr/>
          <p:nvPr>
            <p:ph idx="101" type="title" hasCustomPrompt="1"/>
          </p:nvPr>
        </p:nvSpPr>
        <p:spPr>
          <a:xfrm>
            <a:off x="457200" y="292608"/>
            <a:ext cx="7406640" cy="566928"/>
          </a:xfrm>
          <a:prstGeom prst="rect">
            <a:avLst/>
          </a:prstGeom>
          <a:noFill/>
          <a:ln/>
        </p:spPr>
        <p:txBody>
          <a:bodyPr wrap="square" rtlCol="0"/>
          <a:lstStyle>
            <a:lvl1pPr algn="l" indent="0" marL="0">
              <a:buNone/>
              <a:defRPr lang="en-US" sz="3000" b="1" dirty="0">
                <a:solidFill>
                  <a:schemeClr val="tx1"/>
                </a:solidFill>
                <a:latin typeface="+mj-lt" pitchFamily="34" charset="0"/>
                <a:ea typeface="+mj-lt" pitchFamily="34" charset="-122"/>
                <a:cs typeface="+mj-lt"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bg2"/>
                </a:solidFill>
              </a:rPr>
              <a:t>AML phase  |  Traffic flow forecasting on METR-LA</a:t>
            </a:r>
            <a:endParaRPr lang="en-US" sz="1000" dirty="0"/>
          </a:p>
        </p:txBody>
      </p:sp>
      <p:sp>
        <p:nvSpPr>
          <p:cNvPr id="3" name="Text 1"/>
          <p:cNvSpPr/>
          <p:nvPr>
            <p:ph idx="101" type="title" hasCustomPrompt="1"/>
          </p:nvPr>
        </p:nvSpPr>
        <p:spPr>
          <a:xfrm>
            <a:off x="457200" y="292608"/>
            <a:ext cx="7406640" cy="566928"/>
          </a:xfrm>
          <a:prstGeom prst="rect">
            <a:avLst/>
          </a:prstGeom>
          <a:noFill/>
          <a:ln/>
        </p:spPr>
        <p:txBody>
          <a:bodyPr wrap="square" rtlCol="0"/>
          <a:lstStyle>
            <a:lvl1pPr algn="l" indent="0" marL="0">
              <a:buNone/>
              <a:defRPr lang="en-US" sz="3000" b="1" dirty="0">
                <a:solidFill>
                  <a:schemeClr val="bg1"/>
                </a:solidFill>
                <a:latin typeface="+mj-lt" pitchFamily="34" charset="0"/>
                <a:ea typeface="+mj-lt" pitchFamily="34" charset="-122"/>
                <a:cs typeface="+mj-lt"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1"/>
        </a:solidFill>
      </p:bgPr>
    </p:bg>
    <p:spTree>
      <p:nvGrpSpPr>
        <p:cNvPr id="1" name=""/>
        <p:cNvGrpSpPr/>
        <p:nvPr/>
      </p:nvGrpSpPr>
      <p:grpSpPr>
        <a:xfrm>
          <a:off x="0" y="0"/>
          <a:ext cx="0" cy="0"/>
          <a:chOff x="0" y="0"/>
          <a:chExt cx="0" cy="0"/>
        </a:xfrm>
      </p:grpSpPr>
      <p:sp>
        <p:nvSpPr>
          <p:cNvPr id="2" name="Kicker"/>
          <p:cNvSpPr txBox="1"/>
          <p:nvPr/>
        </p:nvSpPr>
        <p:spPr>
          <a:xfrm>
            <a:off x="548640" y="640080"/>
            <a:ext cx="4572000" cy="274320"/>
          </a:xfrm>
          <a:prstGeom prst="rect">
            <a:avLst/>
          </a:prstGeom>
          <a:noFill/>
          <a:ln/>
        </p:spPr>
        <p:txBody>
          <a:bodyPr wrap="square" lIns="0" tIns="0" rIns="0" bIns="0" rtlCol="0" anchor="t"/>
          <a:lstStyle/>
          <a:p>
            <a:pPr indent="0" marL="0">
              <a:buNone/>
            </a:pPr>
            <a:r>
              <a:rPr lang="en-US" sz="1200" b="1" spc="300" kern="0" dirty="0">
                <a:solidFill>
                  <a:schemeClr val="accent4"/>
                </a:solidFill>
              </a:rPr>
              <a:t>APPLIED MACHINE LEARNING  |  PROJECT T036</a:t>
            </a:r>
            <a:endParaRPr lang="en-US" sz="1200" dirty="0"/>
          </a:p>
        </p:txBody>
      </p:sp>
      <p:sp>
        <p:nvSpPr>
          <p:cNvPr id="3" name="Title"/>
          <p:cNvSpPr txBox="1"/>
          <p:nvPr/>
        </p:nvSpPr>
        <p:spPr>
          <a:xfrm>
            <a:off x="548640" y="1143000"/>
            <a:ext cx="4572000" cy="1737360"/>
          </a:xfrm>
          <a:prstGeom prst="rect">
            <a:avLst/>
          </a:prstGeom>
          <a:noFill/>
          <a:ln/>
        </p:spPr>
        <p:txBody>
          <a:bodyPr wrap="square" lIns="0" tIns="0" rIns="0" bIns="0" rtlCol="0" anchor="t"/>
          <a:lstStyle/>
          <a:p>
            <a:pPr indent="0" marL="0">
              <a:buNone/>
            </a:pPr>
            <a:r>
              <a:rPr lang="en-US" sz="3800" b="1" dirty="0">
                <a:solidFill>
                  <a:schemeClr val="bg1"/>
                </a:solidFill>
                <a:latin typeface="+mj-lt" pitchFamily="34" charset="0"/>
                <a:ea typeface="+mj-lt" pitchFamily="34" charset="-122"/>
                <a:cs typeface="+mj-lt" pitchFamily="34" charset="-120"/>
              </a:rPr>
              <a:t>Predicting congestion on a road network</a:t>
            </a:r>
            <a:endParaRPr lang="en-US" sz="3800" dirty="0"/>
          </a:p>
        </p:txBody>
      </p:sp>
      <p:sp>
        <p:nvSpPr>
          <p:cNvPr id="4" name="Subtitle"/>
          <p:cNvSpPr txBox="1"/>
          <p:nvPr/>
        </p:nvSpPr>
        <p:spPr>
          <a:xfrm>
            <a:off x="548640" y="3017520"/>
            <a:ext cx="4389120" cy="822960"/>
          </a:xfrm>
          <a:prstGeom prst="rect">
            <a:avLst/>
          </a:prstGeom>
          <a:noFill/>
          <a:ln/>
        </p:spPr>
        <p:txBody>
          <a:bodyPr wrap="square" lIns="0" tIns="0" rIns="0" bIns="0" rtlCol="0" anchor="t"/>
          <a:lstStyle/>
          <a:p>
            <a:pPr indent="0" marL="0">
              <a:buNone/>
            </a:pPr>
            <a:r>
              <a:rPr lang="en-US" sz="1600" dirty="0">
                <a:solidFill>
                  <a:schemeClr val="bg2"/>
                </a:solidFill>
              </a:rPr>
              <a:t>Do per-sensor ML models see enough of the road? A leak-free baseline study on METR-LA.</a:t>
            </a:r>
            <a:endParaRPr lang="en-US" sz="1600" dirty="0"/>
          </a:p>
        </p:txBody>
      </p:sp>
      <p:sp>
        <p:nvSpPr>
          <p:cNvPr id="5" name="Author"/>
          <p:cNvSpPr txBox="1"/>
          <p:nvPr/>
        </p:nvSpPr>
        <p:spPr>
          <a:xfrm>
            <a:off x="548640" y="4343400"/>
            <a:ext cx="4572000" cy="274320"/>
          </a:xfrm>
          <a:prstGeom prst="rect">
            <a:avLst/>
          </a:prstGeom>
          <a:noFill/>
          <a:ln/>
        </p:spPr>
        <p:txBody>
          <a:bodyPr wrap="square" lIns="0" tIns="0" rIns="0" bIns="0" rtlCol="0" anchor="t"/>
          <a:lstStyle/>
          <a:p>
            <a:pPr indent="0" marL="0">
              <a:buNone/>
            </a:pPr>
            <a:r>
              <a:rPr lang="en-US" sz="1400" b="1" dirty="0">
                <a:solidFill>
                  <a:schemeClr val="bg1"/>
                </a:solidFill>
              </a:rPr>
              <a:t>Manas Saxena  |  AML phase: Phases 2 to 4</a:t>
            </a:r>
            <a:endParaRPr lang="en-US" sz="1400" dirty="0"/>
          </a:p>
        </p:txBody>
      </p:sp>
      <p:sp>
        <p:nvSpPr>
          <p:cNvPr id="6" name="Road 0-0"/>
          <p:cNvSpPr/>
          <p:nvPr/>
        </p:nvSpPr>
        <p:spPr>
          <a:xfrm>
            <a:off x="5596128" y="1938528"/>
            <a:ext cx="557784" cy="0"/>
          </a:xfrm>
          <a:prstGeom prst="line">
            <a:avLst/>
          </a:prstGeom>
          <a:noFill/>
          <a:ln w="31750">
            <a:solidFill>
              <a:schemeClr val="accent6"/>
            </a:solidFill>
            <a:prstDash val="solid"/>
            <a:tailEnd type="triangle"/>
          </a:ln>
        </p:spPr>
      </p:sp>
      <p:sp>
        <p:nvSpPr>
          <p:cNvPr id="7" name="Road 0-1"/>
          <p:cNvSpPr/>
          <p:nvPr/>
        </p:nvSpPr>
        <p:spPr>
          <a:xfrm>
            <a:off x="6373368" y="1938528"/>
            <a:ext cx="557784" cy="0"/>
          </a:xfrm>
          <a:prstGeom prst="line">
            <a:avLst/>
          </a:prstGeom>
          <a:noFill/>
          <a:ln w="31750">
            <a:solidFill>
              <a:schemeClr val="accent6"/>
            </a:solidFill>
            <a:prstDash val="solid"/>
            <a:tailEnd type="triangle"/>
          </a:ln>
        </p:spPr>
      </p:sp>
      <p:sp>
        <p:nvSpPr>
          <p:cNvPr id="8" name="Road 0-2"/>
          <p:cNvSpPr/>
          <p:nvPr/>
        </p:nvSpPr>
        <p:spPr>
          <a:xfrm>
            <a:off x="7150608" y="1938528"/>
            <a:ext cx="557784" cy="0"/>
          </a:xfrm>
          <a:prstGeom prst="line">
            <a:avLst/>
          </a:prstGeom>
          <a:noFill/>
          <a:ln w="31750">
            <a:solidFill>
              <a:schemeClr val="accent6"/>
            </a:solidFill>
            <a:prstDash val="solid"/>
            <a:tailEnd type="triangle"/>
          </a:ln>
        </p:spPr>
      </p:sp>
      <p:sp>
        <p:nvSpPr>
          <p:cNvPr id="9" name="Road 0-3"/>
          <p:cNvSpPr/>
          <p:nvPr/>
        </p:nvSpPr>
        <p:spPr>
          <a:xfrm>
            <a:off x="7927848" y="1938528"/>
            <a:ext cx="557784" cy="0"/>
          </a:xfrm>
          <a:prstGeom prst="line">
            <a:avLst/>
          </a:prstGeom>
          <a:noFill/>
          <a:ln w="31750">
            <a:solidFill>
              <a:schemeClr val="accent6"/>
            </a:solidFill>
            <a:prstDash val="solid"/>
            <a:tailEnd type="triangle"/>
          </a:ln>
        </p:spPr>
      </p:sp>
      <p:sp>
        <p:nvSpPr>
          <p:cNvPr id="10" name="Sensor 0-0"/>
          <p:cNvSpPr/>
          <p:nvPr/>
        </p:nvSpPr>
        <p:spPr>
          <a:xfrm>
            <a:off x="5376672" y="1828800"/>
            <a:ext cx="219456" cy="219456"/>
          </a:xfrm>
          <a:prstGeom prst="ellipse">
            <a:avLst/>
          </a:prstGeom>
          <a:solidFill>
            <a:schemeClr val="accent3"/>
          </a:solidFill>
          <a:ln w="19050">
            <a:solidFill>
              <a:schemeClr val="bg1"/>
            </a:solidFill>
            <a:prstDash val="solid"/>
          </a:ln>
        </p:spPr>
      </p:sp>
      <p:sp>
        <p:nvSpPr>
          <p:cNvPr id="11" name="Sensor 0-1"/>
          <p:cNvSpPr/>
          <p:nvPr/>
        </p:nvSpPr>
        <p:spPr>
          <a:xfrm>
            <a:off x="6153912" y="1828800"/>
            <a:ext cx="219456" cy="219456"/>
          </a:xfrm>
          <a:prstGeom prst="ellipse">
            <a:avLst/>
          </a:prstGeom>
          <a:solidFill>
            <a:schemeClr val="accent3"/>
          </a:solidFill>
          <a:ln w="19050">
            <a:solidFill>
              <a:schemeClr val="bg1"/>
            </a:solidFill>
            <a:prstDash val="solid"/>
          </a:ln>
        </p:spPr>
      </p:sp>
      <p:sp>
        <p:nvSpPr>
          <p:cNvPr id="12" name="Sensor 0-2"/>
          <p:cNvSpPr/>
          <p:nvPr/>
        </p:nvSpPr>
        <p:spPr>
          <a:xfrm>
            <a:off x="6931152" y="1828800"/>
            <a:ext cx="219456" cy="219456"/>
          </a:xfrm>
          <a:prstGeom prst="ellipse">
            <a:avLst/>
          </a:prstGeom>
          <a:solidFill>
            <a:schemeClr val="accent4"/>
          </a:solidFill>
          <a:ln w="19050">
            <a:solidFill>
              <a:schemeClr val="bg1"/>
            </a:solidFill>
            <a:prstDash val="solid"/>
          </a:ln>
        </p:spPr>
      </p:sp>
      <p:sp>
        <p:nvSpPr>
          <p:cNvPr id="13" name="Sensor 0-3"/>
          <p:cNvSpPr/>
          <p:nvPr/>
        </p:nvSpPr>
        <p:spPr>
          <a:xfrm>
            <a:off x="7708392" y="1828800"/>
            <a:ext cx="219456" cy="219456"/>
          </a:xfrm>
          <a:prstGeom prst="ellipse">
            <a:avLst/>
          </a:prstGeom>
          <a:solidFill>
            <a:schemeClr val="accent5"/>
          </a:solidFill>
          <a:ln w="19050">
            <a:solidFill>
              <a:schemeClr val="bg1"/>
            </a:solidFill>
            <a:prstDash val="solid"/>
          </a:ln>
        </p:spPr>
      </p:sp>
      <p:sp>
        <p:nvSpPr>
          <p:cNvPr id="14" name="Sensor 0-4"/>
          <p:cNvSpPr/>
          <p:nvPr/>
        </p:nvSpPr>
        <p:spPr>
          <a:xfrm>
            <a:off x="8485632" y="1828800"/>
            <a:ext cx="219456" cy="219456"/>
          </a:xfrm>
          <a:prstGeom prst="ellipse">
            <a:avLst/>
          </a:prstGeom>
          <a:solidFill>
            <a:schemeClr val="accent5"/>
          </a:solidFill>
          <a:ln w="19050">
            <a:solidFill>
              <a:schemeClr val="bg1"/>
            </a:solidFill>
            <a:prstDash val="solid"/>
          </a:ln>
        </p:spPr>
      </p:sp>
      <p:sp>
        <p:nvSpPr>
          <p:cNvPr id="15" name="Road 1-0"/>
          <p:cNvSpPr/>
          <p:nvPr/>
        </p:nvSpPr>
        <p:spPr>
          <a:xfrm>
            <a:off x="5596128" y="3355848"/>
            <a:ext cx="557784" cy="0"/>
          </a:xfrm>
          <a:prstGeom prst="line">
            <a:avLst/>
          </a:prstGeom>
          <a:noFill/>
          <a:ln w="31750">
            <a:solidFill>
              <a:schemeClr val="accent6"/>
            </a:solidFill>
            <a:prstDash val="solid"/>
            <a:tailEnd type="triangle"/>
          </a:ln>
        </p:spPr>
      </p:sp>
      <p:sp>
        <p:nvSpPr>
          <p:cNvPr id="16" name="Road 1-1"/>
          <p:cNvSpPr/>
          <p:nvPr/>
        </p:nvSpPr>
        <p:spPr>
          <a:xfrm>
            <a:off x="6373368" y="3355848"/>
            <a:ext cx="557784" cy="0"/>
          </a:xfrm>
          <a:prstGeom prst="line">
            <a:avLst/>
          </a:prstGeom>
          <a:noFill/>
          <a:ln w="31750">
            <a:solidFill>
              <a:schemeClr val="accent6"/>
            </a:solidFill>
            <a:prstDash val="solid"/>
            <a:tailEnd type="triangle"/>
          </a:ln>
        </p:spPr>
      </p:sp>
      <p:sp>
        <p:nvSpPr>
          <p:cNvPr id="17" name="Road 1-2"/>
          <p:cNvSpPr/>
          <p:nvPr/>
        </p:nvSpPr>
        <p:spPr>
          <a:xfrm>
            <a:off x="7150608" y="3355848"/>
            <a:ext cx="557784" cy="0"/>
          </a:xfrm>
          <a:prstGeom prst="line">
            <a:avLst/>
          </a:prstGeom>
          <a:noFill/>
          <a:ln w="31750">
            <a:solidFill>
              <a:schemeClr val="accent6"/>
            </a:solidFill>
            <a:prstDash val="solid"/>
            <a:tailEnd type="triangle"/>
          </a:ln>
        </p:spPr>
      </p:sp>
      <p:sp>
        <p:nvSpPr>
          <p:cNvPr id="18" name="Road 1-3"/>
          <p:cNvSpPr/>
          <p:nvPr/>
        </p:nvSpPr>
        <p:spPr>
          <a:xfrm>
            <a:off x="7927848" y="3355848"/>
            <a:ext cx="557784" cy="0"/>
          </a:xfrm>
          <a:prstGeom prst="line">
            <a:avLst/>
          </a:prstGeom>
          <a:noFill/>
          <a:ln w="31750">
            <a:solidFill>
              <a:schemeClr val="accent6"/>
            </a:solidFill>
            <a:prstDash val="solid"/>
            <a:tailEnd type="triangle"/>
          </a:ln>
        </p:spPr>
      </p:sp>
      <p:sp>
        <p:nvSpPr>
          <p:cNvPr id="19" name="Sensor 1-0"/>
          <p:cNvSpPr/>
          <p:nvPr/>
        </p:nvSpPr>
        <p:spPr>
          <a:xfrm>
            <a:off x="5376672" y="3246120"/>
            <a:ext cx="219456" cy="219456"/>
          </a:xfrm>
          <a:prstGeom prst="ellipse">
            <a:avLst/>
          </a:prstGeom>
          <a:solidFill>
            <a:schemeClr val="accent3"/>
          </a:solidFill>
          <a:ln w="19050">
            <a:solidFill>
              <a:schemeClr val="bg1"/>
            </a:solidFill>
            <a:prstDash val="solid"/>
          </a:ln>
        </p:spPr>
      </p:sp>
      <p:sp>
        <p:nvSpPr>
          <p:cNvPr id="20" name="Sensor 1-1"/>
          <p:cNvSpPr/>
          <p:nvPr/>
        </p:nvSpPr>
        <p:spPr>
          <a:xfrm>
            <a:off x="6153912" y="3246120"/>
            <a:ext cx="219456" cy="219456"/>
          </a:xfrm>
          <a:prstGeom prst="ellipse">
            <a:avLst/>
          </a:prstGeom>
          <a:solidFill>
            <a:schemeClr val="accent4"/>
          </a:solidFill>
          <a:ln w="19050">
            <a:solidFill>
              <a:schemeClr val="bg1"/>
            </a:solidFill>
            <a:prstDash val="solid"/>
          </a:ln>
        </p:spPr>
      </p:sp>
      <p:sp>
        <p:nvSpPr>
          <p:cNvPr id="21" name="Sensor 1-2"/>
          <p:cNvSpPr/>
          <p:nvPr/>
        </p:nvSpPr>
        <p:spPr>
          <a:xfrm>
            <a:off x="6931152" y="3246120"/>
            <a:ext cx="219456" cy="219456"/>
          </a:xfrm>
          <a:prstGeom prst="ellipse">
            <a:avLst/>
          </a:prstGeom>
          <a:solidFill>
            <a:schemeClr val="accent5"/>
          </a:solidFill>
          <a:ln w="19050">
            <a:solidFill>
              <a:schemeClr val="bg1"/>
            </a:solidFill>
            <a:prstDash val="solid"/>
          </a:ln>
        </p:spPr>
      </p:sp>
      <p:sp>
        <p:nvSpPr>
          <p:cNvPr id="22" name="Sensor 1-3"/>
          <p:cNvSpPr/>
          <p:nvPr/>
        </p:nvSpPr>
        <p:spPr>
          <a:xfrm>
            <a:off x="7708392" y="3246120"/>
            <a:ext cx="219456" cy="219456"/>
          </a:xfrm>
          <a:prstGeom prst="ellipse">
            <a:avLst/>
          </a:prstGeom>
          <a:solidFill>
            <a:schemeClr val="accent5"/>
          </a:solidFill>
          <a:ln w="19050">
            <a:solidFill>
              <a:schemeClr val="bg1"/>
            </a:solidFill>
            <a:prstDash val="solid"/>
          </a:ln>
        </p:spPr>
      </p:sp>
      <p:sp>
        <p:nvSpPr>
          <p:cNvPr id="23" name="Sensor 1-4"/>
          <p:cNvSpPr/>
          <p:nvPr/>
        </p:nvSpPr>
        <p:spPr>
          <a:xfrm>
            <a:off x="8485632" y="3246120"/>
            <a:ext cx="219456" cy="219456"/>
          </a:xfrm>
          <a:prstGeom prst="ellipse">
            <a:avLst/>
          </a:prstGeom>
          <a:solidFill>
            <a:schemeClr val="accent5"/>
          </a:solidFill>
          <a:ln w="19050">
            <a:solidFill>
              <a:schemeClr val="bg1"/>
            </a:solidFill>
            <a:prstDash val="solid"/>
          </a:ln>
        </p:spPr>
      </p:sp>
      <p:sp>
        <p:nvSpPr>
          <p:cNvPr id="24" name="Flow label"/>
          <p:cNvSpPr txBox="1"/>
          <p:nvPr/>
        </p:nvSpPr>
        <p:spPr>
          <a:xfrm>
            <a:off x="5486400" y="2176272"/>
            <a:ext cx="3108960" cy="228600"/>
          </a:xfrm>
          <a:prstGeom prst="rect">
            <a:avLst/>
          </a:prstGeom>
          <a:noFill/>
          <a:ln/>
        </p:spPr>
        <p:txBody>
          <a:bodyPr wrap="square" lIns="0" tIns="0" rIns="0" bIns="0" rtlCol="0" anchor="t"/>
          <a:lstStyle/>
          <a:p>
            <a:pPr algn="ctr" indent="0" marL="0">
              <a:buNone/>
            </a:pPr>
            <a:r>
              <a:rPr lang="en-US" sz="1200" dirty="0">
                <a:solidFill>
                  <a:schemeClr val="bg2"/>
                </a:solidFill>
              </a:rPr>
              <a:t>traffic flow</a:t>
            </a:r>
            <a:endParaRPr lang="en-US" sz="1200" dirty="0"/>
          </a:p>
        </p:txBody>
      </p:sp>
      <p:sp>
        <p:nvSpPr>
          <p:cNvPr id="25" name="Jam arrow"/>
          <p:cNvSpPr/>
          <p:nvPr/>
        </p:nvSpPr>
        <p:spPr>
          <a:xfrm flipH="1">
            <a:off x="5669280" y="2697480"/>
            <a:ext cx="2743200" cy="0"/>
          </a:xfrm>
          <a:prstGeom prst="line">
            <a:avLst/>
          </a:prstGeom>
          <a:noFill/>
          <a:ln w="25400">
            <a:solidFill>
              <a:schemeClr val="accent4"/>
            </a:solidFill>
            <a:prstDash val="dash"/>
            <a:tailEnd type="triangle"/>
          </a:ln>
        </p:spPr>
      </p:sp>
      <p:sp>
        <p:nvSpPr>
          <p:cNvPr id="26" name="Jam label"/>
          <p:cNvSpPr txBox="1"/>
          <p:nvPr/>
        </p:nvSpPr>
        <p:spPr>
          <a:xfrm>
            <a:off x="5394960" y="2761488"/>
            <a:ext cx="3383280" cy="274320"/>
          </a:xfrm>
          <a:prstGeom prst="rect">
            <a:avLst/>
          </a:prstGeom>
          <a:noFill/>
          <a:ln/>
        </p:spPr>
        <p:txBody>
          <a:bodyPr wrap="square" lIns="0" tIns="0" rIns="0" bIns="0" rtlCol="0" anchor="t"/>
          <a:lstStyle/>
          <a:p>
            <a:pPr algn="ctr" indent="0" marL="0">
              <a:buNone/>
            </a:pPr>
            <a:r>
              <a:rPr lang="en-US" sz="1200" b="1" dirty="0">
                <a:solidFill>
                  <a:schemeClr val="accent4"/>
                </a:solidFill>
              </a:rPr>
              <a:t>the jam spreads backwards, about 16 km/h</a:t>
            </a:r>
            <a:endParaRPr lang="en-US" sz="1200" dirty="0"/>
          </a:p>
        </p:txBody>
      </p:sp>
      <p:sp>
        <p:nvSpPr>
          <p:cNvPr id="27" name="Signal red"/>
          <p:cNvSpPr/>
          <p:nvPr/>
        </p:nvSpPr>
        <p:spPr>
          <a:xfrm>
            <a:off x="8028432" y="640080"/>
            <a:ext cx="146304" cy="146304"/>
          </a:xfrm>
          <a:prstGeom prst="ellipse">
            <a:avLst/>
          </a:prstGeom>
          <a:solidFill>
            <a:schemeClr val="accent5"/>
          </a:solidFill>
          <a:ln w="12700">
            <a:solidFill>
              <a:schemeClr val="accent5"/>
            </a:solidFill>
            <a:prstDash val="solid"/>
          </a:ln>
        </p:spPr>
      </p:sp>
      <p:sp>
        <p:nvSpPr>
          <p:cNvPr id="28" name="Signal amber"/>
          <p:cNvSpPr/>
          <p:nvPr/>
        </p:nvSpPr>
        <p:spPr>
          <a:xfrm>
            <a:off x="8247888" y="640080"/>
            <a:ext cx="146304" cy="146304"/>
          </a:xfrm>
          <a:prstGeom prst="ellipse">
            <a:avLst/>
          </a:prstGeom>
          <a:solidFill>
            <a:schemeClr val="accent4"/>
          </a:solidFill>
          <a:ln w="12700">
            <a:solidFill>
              <a:schemeClr val="accent4"/>
            </a:solidFill>
            <a:prstDash val="solid"/>
          </a:ln>
        </p:spPr>
      </p:sp>
      <p:sp>
        <p:nvSpPr>
          <p:cNvPr id="29" name="Signal green"/>
          <p:cNvSpPr/>
          <p:nvPr/>
        </p:nvSpPr>
        <p:spPr>
          <a:xfrm>
            <a:off x="8467344" y="640080"/>
            <a:ext cx="146304" cy="146304"/>
          </a:xfrm>
          <a:prstGeom prst="ellipse">
            <a:avLst/>
          </a:prstGeom>
          <a:solidFill>
            <a:schemeClr val="accent3"/>
          </a:solidFill>
          <a:ln w="127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What the AML part covers</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The brief's hybrid logic: segment-level ML first, network-aware learning second</a:t>
            </a:r>
            <a:endParaRPr lang="en-US" sz="1600" dirty="0"/>
          </a:p>
        </p:txBody>
      </p:sp>
      <p:sp>
        <p:nvSpPr>
          <p:cNvPr id="7" name="Step card 1"/>
          <p:cNvSpPr/>
          <p:nvPr/>
        </p:nvSpPr>
        <p:spPr>
          <a:xfrm>
            <a:off x="457200" y="1371600"/>
            <a:ext cx="2560320" cy="2331720"/>
          </a:xfrm>
          <a:prstGeom prst="roundRect">
            <a:avLst>
              <a:gd name="adj" fmla="val 3137"/>
            </a:avLst>
          </a:prstGeom>
          <a:solidFill>
            <a:schemeClr val="bg2"/>
          </a:solidFill>
          <a:ln w="12700">
            <a:solidFill>
              <a:schemeClr val="bg2"/>
            </a:solidFill>
            <a:prstDash val="solid"/>
          </a:ln>
        </p:spPr>
      </p:sp>
      <p:sp>
        <p:nvSpPr>
          <p:cNvPr id="8" name="Badge 1"/>
          <p:cNvSpPr/>
          <p:nvPr/>
        </p:nvSpPr>
        <p:spPr>
          <a:xfrm>
            <a:off x="640080" y="1554480"/>
            <a:ext cx="457200" cy="457200"/>
          </a:xfrm>
          <a:prstGeom prst="ellipse">
            <a:avLst/>
          </a:prstGeom>
          <a:solidFill>
            <a:schemeClr val="accent1"/>
          </a:solidFill>
          <a:ln w="12700">
            <a:solidFill>
              <a:schemeClr val="accent1"/>
            </a:solidFill>
            <a:prstDash val="solid"/>
          </a:ln>
        </p:spPr>
      </p:sp>
      <p:sp>
        <p:nvSpPr>
          <p:cNvPr id="9" name="Badge text 1"/>
          <p:cNvSpPr txBox="1"/>
          <p:nvPr/>
        </p:nvSpPr>
        <p:spPr>
          <a:xfrm>
            <a:off x="64008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Status pill 1"/>
          <p:cNvSpPr/>
          <p:nvPr/>
        </p:nvSpPr>
        <p:spPr>
          <a:xfrm>
            <a:off x="2057400" y="1627632"/>
            <a:ext cx="777240" cy="292608"/>
          </a:xfrm>
          <a:prstGeom prst="roundRect">
            <a:avLst>
              <a:gd name="adj" fmla="val 50000"/>
            </a:avLst>
          </a:prstGeom>
          <a:solidFill>
            <a:schemeClr val="accent3"/>
          </a:solidFill>
          <a:ln w="12700">
            <a:solidFill>
              <a:schemeClr val="accent3"/>
            </a:solidFill>
            <a:prstDash val="solid"/>
          </a:ln>
        </p:spPr>
      </p:sp>
      <p:sp>
        <p:nvSpPr>
          <p:cNvPr id="11" name="Status text 1"/>
          <p:cNvSpPr txBox="1"/>
          <p:nvPr/>
        </p:nvSpPr>
        <p:spPr>
          <a:xfrm>
            <a:off x="2057400" y="1627632"/>
            <a:ext cx="777240" cy="292608"/>
          </a:xfrm>
          <a:prstGeom prst="rect">
            <a:avLst/>
          </a:prstGeom>
          <a:noFill/>
          <a:ln/>
        </p:spPr>
        <p:txBody>
          <a:bodyPr wrap="square" lIns="0" tIns="0" rIns="0" bIns="0" rtlCol="0" anchor="ctr"/>
          <a:lstStyle/>
          <a:p>
            <a:pPr algn="ctr" indent="0" marL="0">
              <a:buNone/>
            </a:pPr>
            <a:r>
              <a:rPr lang="en-US" sz="1200" b="1" dirty="0">
                <a:solidFill>
                  <a:schemeClr val="bg1"/>
                </a:solidFill>
              </a:rPr>
              <a:t>Done</a:t>
            </a:r>
            <a:endParaRPr lang="en-US" sz="1200" dirty="0"/>
          </a:p>
        </p:txBody>
      </p:sp>
      <p:sp>
        <p:nvSpPr>
          <p:cNvPr id="12" name="Step title 1"/>
          <p:cNvSpPr txBox="1"/>
          <p:nvPr/>
        </p:nvSpPr>
        <p:spPr>
          <a:xfrm>
            <a:off x="640080" y="2148840"/>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AML baseline</a:t>
            </a:r>
            <a:endParaRPr lang="en-US" sz="1800" dirty="0"/>
          </a:p>
        </p:txBody>
      </p:sp>
      <p:sp>
        <p:nvSpPr>
          <p:cNvPr id="13" name="Step body 1"/>
          <p:cNvSpPr txBox="1"/>
          <p:nvPr/>
        </p:nvSpPr>
        <p:spPr>
          <a:xfrm>
            <a:off x="640080" y="2514600"/>
            <a:ext cx="2194560" cy="1097280"/>
          </a:xfrm>
          <a:prstGeom prst="rect">
            <a:avLst/>
          </a:prstGeom>
          <a:noFill/>
          <a:ln/>
        </p:spPr>
        <p:txBody>
          <a:bodyPr wrap="square" lIns="0" tIns="0" rIns="0" bIns="0" rtlCol="0" anchor="t"/>
          <a:lstStyle/>
          <a:p>
            <a:pPr indent="0" marL="0">
              <a:buNone/>
            </a:pPr>
            <a:r>
              <a:rPr lang="en-US" sz="1400" dirty="0">
                <a:solidFill>
                  <a:schemeClr val="tx1"/>
                </a:solidFill>
              </a:rPr>
              <a:t>XGBoost per horizon and a multi-output Random Forest on lagged speed, time and road-segment features.</a:t>
            </a:r>
            <a:endParaRPr lang="en-US" sz="1400" dirty="0"/>
          </a:p>
        </p:txBody>
      </p:sp>
      <p:sp>
        <p:nvSpPr>
          <p:cNvPr id="14" name="Arrow 0"/>
          <p:cNvSpPr/>
          <p:nvPr/>
        </p:nvSpPr>
        <p:spPr>
          <a:xfrm>
            <a:off x="3072384" y="2395728"/>
            <a:ext cx="219456" cy="256032"/>
          </a:xfrm>
          <a:prstGeom prst="rightArrow">
            <a:avLst/>
          </a:prstGeom>
          <a:solidFill>
            <a:schemeClr val="accent6"/>
          </a:solidFill>
          <a:ln w="12700">
            <a:solidFill>
              <a:schemeClr val="accent6"/>
            </a:solidFill>
            <a:prstDash val="solid"/>
          </a:ln>
        </p:spPr>
      </p:sp>
      <p:sp>
        <p:nvSpPr>
          <p:cNvPr id="15" name="Step card 2"/>
          <p:cNvSpPr/>
          <p:nvPr/>
        </p:nvSpPr>
        <p:spPr>
          <a:xfrm>
            <a:off x="3291840" y="1371600"/>
            <a:ext cx="2560320" cy="2331720"/>
          </a:xfrm>
          <a:prstGeom prst="roundRect">
            <a:avLst>
              <a:gd name="adj" fmla="val 3137"/>
            </a:avLst>
          </a:prstGeom>
          <a:solidFill>
            <a:schemeClr val="bg2"/>
          </a:solidFill>
          <a:ln w="12700">
            <a:solidFill>
              <a:schemeClr val="bg2"/>
            </a:solidFill>
            <a:prstDash val="solid"/>
          </a:ln>
        </p:spPr>
      </p:sp>
      <p:sp>
        <p:nvSpPr>
          <p:cNvPr id="16" name="Badge 2"/>
          <p:cNvSpPr/>
          <p:nvPr/>
        </p:nvSpPr>
        <p:spPr>
          <a:xfrm>
            <a:off x="3474720" y="1554480"/>
            <a:ext cx="457200" cy="457200"/>
          </a:xfrm>
          <a:prstGeom prst="ellipse">
            <a:avLst/>
          </a:prstGeom>
          <a:solidFill>
            <a:schemeClr val="accent1"/>
          </a:solidFill>
          <a:ln w="12700">
            <a:solidFill>
              <a:schemeClr val="accent1"/>
            </a:solidFill>
            <a:prstDash val="solid"/>
          </a:ln>
        </p:spPr>
      </p:sp>
      <p:sp>
        <p:nvSpPr>
          <p:cNvPr id="17" name="Badge text 2"/>
          <p:cNvSpPr txBox="1"/>
          <p:nvPr/>
        </p:nvSpPr>
        <p:spPr>
          <a:xfrm>
            <a:off x="347472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Status pill 2"/>
          <p:cNvSpPr/>
          <p:nvPr/>
        </p:nvSpPr>
        <p:spPr>
          <a:xfrm>
            <a:off x="4892040" y="1627632"/>
            <a:ext cx="777240" cy="292608"/>
          </a:xfrm>
          <a:prstGeom prst="roundRect">
            <a:avLst>
              <a:gd name="adj" fmla="val 50000"/>
            </a:avLst>
          </a:prstGeom>
          <a:solidFill>
            <a:schemeClr val="accent3"/>
          </a:solidFill>
          <a:ln w="12700">
            <a:solidFill>
              <a:schemeClr val="accent3"/>
            </a:solidFill>
            <a:prstDash val="solid"/>
          </a:ln>
        </p:spPr>
      </p:sp>
      <p:sp>
        <p:nvSpPr>
          <p:cNvPr id="19" name="Status text 2"/>
          <p:cNvSpPr txBox="1"/>
          <p:nvPr/>
        </p:nvSpPr>
        <p:spPr>
          <a:xfrm>
            <a:off x="4892040" y="1627632"/>
            <a:ext cx="777240" cy="292608"/>
          </a:xfrm>
          <a:prstGeom prst="rect">
            <a:avLst/>
          </a:prstGeom>
          <a:noFill/>
          <a:ln/>
        </p:spPr>
        <p:txBody>
          <a:bodyPr wrap="square" lIns="0" tIns="0" rIns="0" bIns="0" rtlCol="0" anchor="ctr"/>
          <a:lstStyle/>
          <a:p>
            <a:pPr algn="ctr" indent="0" marL="0">
              <a:buNone/>
            </a:pPr>
            <a:r>
              <a:rPr lang="en-US" sz="1200" b="1" dirty="0">
                <a:solidFill>
                  <a:schemeClr val="bg1"/>
                </a:solidFill>
              </a:rPr>
              <a:t>Done</a:t>
            </a:r>
            <a:endParaRPr lang="en-US" sz="1200" dirty="0"/>
          </a:p>
        </p:txBody>
      </p:sp>
      <p:sp>
        <p:nvSpPr>
          <p:cNvPr id="20" name="Step title 2"/>
          <p:cNvSpPr txBox="1"/>
          <p:nvPr/>
        </p:nvSpPr>
        <p:spPr>
          <a:xfrm>
            <a:off x="3474720" y="2148840"/>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Identify the gap</a:t>
            </a:r>
            <a:endParaRPr lang="en-US" sz="1800" dirty="0"/>
          </a:p>
        </p:txBody>
      </p:sp>
      <p:sp>
        <p:nvSpPr>
          <p:cNvPr id="21" name="Step body 2"/>
          <p:cNvSpPr txBox="1"/>
          <p:nvPr/>
        </p:nvSpPr>
        <p:spPr>
          <a:xfrm>
            <a:off x="3474720" y="2514600"/>
            <a:ext cx="2194560" cy="1097280"/>
          </a:xfrm>
          <a:prstGeom prst="rect">
            <a:avLst/>
          </a:prstGeom>
          <a:noFill/>
          <a:ln/>
        </p:spPr>
        <p:txBody>
          <a:bodyPr wrap="square" lIns="0" tIns="0" rIns="0" bIns="0" rtlCol="0" anchor="t"/>
          <a:lstStyle/>
          <a:p>
            <a:pPr indent="0" marL="0">
              <a:buNone/>
            </a:pPr>
            <a:r>
              <a:rPr lang="en-US" sz="1400" dirty="0">
                <a:solidFill>
                  <a:schemeClr val="tx1"/>
                </a:solidFill>
              </a:rPr>
              <a:t>Independent models cannot see how congestion moves between upstream and downstream links. We measure it.</a:t>
            </a:r>
            <a:endParaRPr lang="en-US" sz="1400" dirty="0"/>
          </a:p>
        </p:txBody>
      </p:sp>
      <p:sp>
        <p:nvSpPr>
          <p:cNvPr id="22" name="Arrow 1"/>
          <p:cNvSpPr/>
          <p:nvPr/>
        </p:nvSpPr>
        <p:spPr>
          <a:xfrm>
            <a:off x="5907024" y="2395728"/>
            <a:ext cx="219456" cy="256032"/>
          </a:xfrm>
          <a:prstGeom prst="rightArrow">
            <a:avLst/>
          </a:prstGeom>
          <a:solidFill>
            <a:schemeClr val="accent6"/>
          </a:solidFill>
          <a:ln w="12700">
            <a:solidFill>
              <a:schemeClr val="accent6"/>
            </a:solidFill>
            <a:prstDash val="solid"/>
          </a:ln>
        </p:spPr>
      </p:sp>
      <p:sp>
        <p:nvSpPr>
          <p:cNvPr id="23" name="Step card 3"/>
          <p:cNvSpPr/>
          <p:nvPr/>
        </p:nvSpPr>
        <p:spPr>
          <a:xfrm>
            <a:off x="6126480" y="1371600"/>
            <a:ext cx="2560320" cy="2331720"/>
          </a:xfrm>
          <a:prstGeom prst="roundRect">
            <a:avLst>
              <a:gd name="adj" fmla="val 3137"/>
            </a:avLst>
          </a:prstGeom>
          <a:solidFill>
            <a:schemeClr val="bg2"/>
          </a:solidFill>
          <a:ln w="12700">
            <a:solidFill>
              <a:schemeClr val="bg2"/>
            </a:solidFill>
            <a:prstDash val="solid"/>
          </a:ln>
        </p:spPr>
      </p:sp>
      <p:sp>
        <p:nvSpPr>
          <p:cNvPr id="24" name="Badge 3"/>
          <p:cNvSpPr/>
          <p:nvPr/>
        </p:nvSpPr>
        <p:spPr>
          <a:xfrm>
            <a:off x="6309360" y="1554480"/>
            <a:ext cx="457200" cy="457200"/>
          </a:xfrm>
          <a:prstGeom prst="ellipse">
            <a:avLst/>
          </a:prstGeom>
          <a:solidFill>
            <a:schemeClr val="accent6"/>
          </a:solidFill>
          <a:ln w="12700">
            <a:solidFill>
              <a:schemeClr val="accent6"/>
            </a:solidFill>
            <a:prstDash val="solid"/>
          </a:ln>
        </p:spPr>
      </p:sp>
      <p:sp>
        <p:nvSpPr>
          <p:cNvPr id="25" name="Badge text 3"/>
          <p:cNvSpPr txBox="1"/>
          <p:nvPr/>
        </p:nvSpPr>
        <p:spPr>
          <a:xfrm>
            <a:off x="630936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6" name="Status pill 3"/>
          <p:cNvSpPr/>
          <p:nvPr/>
        </p:nvSpPr>
        <p:spPr>
          <a:xfrm>
            <a:off x="7726680" y="1627632"/>
            <a:ext cx="777240" cy="292608"/>
          </a:xfrm>
          <a:prstGeom prst="roundRect">
            <a:avLst>
              <a:gd name="adj" fmla="val 50000"/>
            </a:avLst>
          </a:prstGeom>
          <a:solidFill>
            <a:schemeClr val="accent4"/>
          </a:solidFill>
          <a:ln w="12700">
            <a:solidFill>
              <a:schemeClr val="accent4"/>
            </a:solidFill>
            <a:prstDash val="solid"/>
          </a:ln>
        </p:spPr>
      </p:sp>
      <p:sp>
        <p:nvSpPr>
          <p:cNvPr id="27" name="Status text 3"/>
          <p:cNvSpPr txBox="1"/>
          <p:nvPr/>
        </p:nvSpPr>
        <p:spPr>
          <a:xfrm>
            <a:off x="7726680" y="1627632"/>
            <a:ext cx="777240" cy="292608"/>
          </a:xfrm>
          <a:prstGeom prst="rect">
            <a:avLst/>
          </a:prstGeom>
          <a:noFill/>
          <a:ln/>
        </p:spPr>
        <p:txBody>
          <a:bodyPr wrap="square" lIns="0" tIns="0" rIns="0" bIns="0" rtlCol="0" anchor="ctr"/>
          <a:lstStyle/>
          <a:p>
            <a:pPr algn="ctr" indent="0" marL="0">
              <a:buNone/>
            </a:pPr>
            <a:r>
              <a:rPr lang="en-US" sz="1200" b="1" dirty="0">
                <a:solidFill>
                  <a:schemeClr val="tx1"/>
                </a:solidFill>
              </a:rPr>
              <a:t>Next</a:t>
            </a:r>
            <a:endParaRPr lang="en-US" sz="1200" dirty="0"/>
          </a:p>
        </p:txBody>
      </p:sp>
      <p:sp>
        <p:nvSpPr>
          <p:cNvPr id="28" name="Step title 3"/>
          <p:cNvSpPr txBox="1"/>
          <p:nvPr/>
        </p:nvSpPr>
        <p:spPr>
          <a:xfrm>
            <a:off x="6309360" y="2148840"/>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Graph deep learning</a:t>
            </a:r>
            <a:endParaRPr lang="en-US" sz="1800" dirty="0"/>
          </a:p>
        </p:txBody>
      </p:sp>
      <p:sp>
        <p:nvSpPr>
          <p:cNvPr id="29" name="Step body 3"/>
          <p:cNvSpPr txBox="1"/>
          <p:nvPr/>
        </p:nvSpPr>
        <p:spPr>
          <a:xfrm>
            <a:off x="6309360" y="2514600"/>
            <a:ext cx="2194560" cy="1097280"/>
          </a:xfrm>
          <a:prstGeom prst="rect">
            <a:avLst/>
          </a:prstGeom>
          <a:noFill/>
          <a:ln/>
        </p:spPr>
        <p:txBody>
          <a:bodyPr wrap="square" lIns="0" tIns="0" rIns="0" bIns="0" rtlCol="0" anchor="t"/>
          <a:lstStyle/>
          <a:p>
            <a:pPr indent="0" marL="0">
              <a:buNone/>
            </a:pPr>
            <a:r>
              <a:rPr lang="en-US" sz="1400" dirty="0">
                <a:solidFill>
                  <a:schemeClr val="tx1"/>
                </a:solidFill>
              </a:rPr>
              <a:t>Graph attention and diffusion models over the road graph, scored on the same splits and metrics.</a:t>
            </a:r>
            <a:endParaRPr lang="en-US" sz="1400" dirty="0"/>
          </a:p>
        </p:txBody>
      </p:sp>
      <p:sp>
        <p:nvSpPr>
          <p:cNvPr id="30" name="Question banner"/>
          <p:cNvSpPr/>
          <p:nvPr/>
        </p:nvSpPr>
        <p:spPr>
          <a:xfrm>
            <a:off x="457200" y="3931920"/>
            <a:ext cx="8229600" cy="640080"/>
          </a:xfrm>
          <a:prstGeom prst="roundRect">
            <a:avLst>
              <a:gd name="adj" fmla="val 11429"/>
            </a:avLst>
          </a:prstGeom>
          <a:solidFill>
            <a:schemeClr val="tx1"/>
          </a:solidFill>
          <a:ln w="12700">
            <a:solidFill>
              <a:schemeClr val="tx1"/>
            </a:solidFill>
            <a:prstDash val="solid"/>
          </a:ln>
        </p:spPr>
      </p:sp>
      <p:sp>
        <p:nvSpPr>
          <p:cNvPr id="31" name="Question"/>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b="1" dirty="0">
                <a:solidFill>
                  <a:schemeClr val="bg1"/>
                </a:solidFill>
              </a:rPr>
              <a:t>Does a model that sees the road network forecast speed 5 to 60 minutes ahead better than strong per-sensor models, and where does the gain come from?</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METR-LA at a glance</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207 freeway sensors in Los Angeles, one speed reading every 5 minutes</a:t>
            </a:r>
            <a:endParaRPr lang="en-US" sz="1600" dirty="0"/>
          </a:p>
        </p:txBody>
      </p:sp>
      <p:sp>
        <p:nvSpPr>
          <p:cNvPr id="7" name="Stat card 1"/>
          <p:cNvSpPr/>
          <p:nvPr/>
        </p:nvSpPr>
        <p:spPr>
          <a:xfrm>
            <a:off x="457200" y="1371600"/>
            <a:ext cx="1920240" cy="1417320"/>
          </a:xfrm>
          <a:prstGeom prst="roundRect">
            <a:avLst>
              <a:gd name="adj" fmla="val 5161"/>
            </a:avLst>
          </a:prstGeom>
          <a:solidFill>
            <a:schemeClr val="bg2"/>
          </a:solidFill>
          <a:ln w="12700">
            <a:solidFill>
              <a:schemeClr val="bg2"/>
            </a:solidFill>
            <a:prstDash val="solid"/>
          </a:ln>
        </p:spPr>
      </p:sp>
      <p:sp>
        <p:nvSpPr>
          <p:cNvPr id="8" name="Stat 1"/>
          <p:cNvSpPr txBox="1"/>
          <p:nvPr/>
        </p:nvSpPr>
        <p:spPr>
          <a:xfrm>
            <a:off x="594360" y="1463040"/>
            <a:ext cx="1645920" cy="54864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207</a:t>
            </a:r>
            <a:endParaRPr lang="en-US" sz="3000" dirty="0"/>
          </a:p>
        </p:txBody>
      </p:sp>
      <p:sp>
        <p:nvSpPr>
          <p:cNvPr id="9" name="Stat label 1"/>
          <p:cNvSpPr txBox="1"/>
          <p:nvPr/>
        </p:nvSpPr>
        <p:spPr>
          <a:xfrm>
            <a:off x="594360" y="2057400"/>
            <a:ext cx="1645920" cy="685800"/>
          </a:xfrm>
          <a:prstGeom prst="rect">
            <a:avLst/>
          </a:prstGeom>
          <a:noFill/>
          <a:ln/>
        </p:spPr>
        <p:txBody>
          <a:bodyPr wrap="square" lIns="0" tIns="0" rIns="0" bIns="0" rtlCol="0" anchor="t"/>
          <a:lstStyle/>
          <a:p>
            <a:pPr indent="0" marL="0">
              <a:buNone/>
            </a:pPr>
            <a:r>
              <a:rPr lang="en-US" sz="1300" dirty="0">
                <a:solidFill>
                  <a:schemeClr val="tx1"/>
                </a:solidFill>
              </a:rPr>
              <a:t>sensors on a directed road graph</a:t>
            </a:r>
            <a:endParaRPr lang="en-US" sz="1300" dirty="0"/>
          </a:p>
        </p:txBody>
      </p:sp>
      <p:sp>
        <p:nvSpPr>
          <p:cNvPr id="10" name="Stat card 2"/>
          <p:cNvSpPr/>
          <p:nvPr/>
        </p:nvSpPr>
        <p:spPr>
          <a:xfrm>
            <a:off x="2542032" y="1371600"/>
            <a:ext cx="1920240" cy="1417320"/>
          </a:xfrm>
          <a:prstGeom prst="roundRect">
            <a:avLst>
              <a:gd name="adj" fmla="val 5161"/>
            </a:avLst>
          </a:prstGeom>
          <a:solidFill>
            <a:schemeClr val="bg2"/>
          </a:solidFill>
          <a:ln w="12700">
            <a:solidFill>
              <a:schemeClr val="bg2"/>
            </a:solidFill>
            <a:prstDash val="solid"/>
          </a:ln>
        </p:spPr>
      </p:sp>
      <p:sp>
        <p:nvSpPr>
          <p:cNvPr id="11" name="Stat 2"/>
          <p:cNvSpPr txBox="1"/>
          <p:nvPr/>
        </p:nvSpPr>
        <p:spPr>
          <a:xfrm>
            <a:off x="2679192" y="1463040"/>
            <a:ext cx="1645920" cy="54864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34,272</a:t>
            </a:r>
            <a:endParaRPr lang="en-US" sz="3000" dirty="0"/>
          </a:p>
        </p:txBody>
      </p:sp>
      <p:sp>
        <p:nvSpPr>
          <p:cNvPr id="12" name="Stat label 2"/>
          <p:cNvSpPr txBox="1"/>
          <p:nvPr/>
        </p:nvSpPr>
        <p:spPr>
          <a:xfrm>
            <a:off x="2679192" y="2057400"/>
            <a:ext cx="1645920" cy="685800"/>
          </a:xfrm>
          <a:prstGeom prst="rect">
            <a:avLst/>
          </a:prstGeom>
          <a:noFill/>
          <a:ln/>
        </p:spPr>
        <p:txBody>
          <a:bodyPr wrap="square" lIns="0" tIns="0" rIns="0" bIns="0" rtlCol="0" anchor="t"/>
          <a:lstStyle/>
          <a:p>
            <a:pPr indent="0" marL="0">
              <a:buNone/>
            </a:pPr>
            <a:r>
              <a:rPr lang="en-US" sz="1300" dirty="0">
                <a:solidFill>
                  <a:schemeClr val="tx1"/>
                </a:solidFill>
              </a:rPr>
              <a:t>readings per sensor, Mar to Jun 2012</a:t>
            </a:r>
            <a:endParaRPr lang="en-US" sz="1300" dirty="0"/>
          </a:p>
        </p:txBody>
      </p:sp>
      <p:sp>
        <p:nvSpPr>
          <p:cNvPr id="13" name="Stat card 3"/>
          <p:cNvSpPr/>
          <p:nvPr/>
        </p:nvSpPr>
        <p:spPr>
          <a:xfrm>
            <a:off x="4626864" y="1371600"/>
            <a:ext cx="1920240" cy="1417320"/>
          </a:xfrm>
          <a:prstGeom prst="roundRect">
            <a:avLst>
              <a:gd name="adj" fmla="val 5161"/>
            </a:avLst>
          </a:prstGeom>
          <a:solidFill>
            <a:schemeClr val="bg2"/>
          </a:solidFill>
          <a:ln w="12700">
            <a:solidFill>
              <a:schemeClr val="bg2"/>
            </a:solidFill>
            <a:prstDash val="solid"/>
          </a:ln>
        </p:spPr>
      </p:sp>
      <p:sp>
        <p:nvSpPr>
          <p:cNvPr id="14" name="Stat 3"/>
          <p:cNvSpPr txBox="1"/>
          <p:nvPr/>
        </p:nvSpPr>
        <p:spPr>
          <a:xfrm>
            <a:off x="4764024" y="1463040"/>
            <a:ext cx="1645920" cy="548640"/>
          </a:xfrm>
          <a:prstGeom prst="rect">
            <a:avLst/>
          </a:prstGeom>
          <a:noFill/>
          <a:ln/>
        </p:spPr>
        <p:txBody>
          <a:bodyPr wrap="square" lIns="0" tIns="0" rIns="0" bIns="0" rtlCol="0" anchor="ctr"/>
          <a:lstStyle/>
          <a:p>
            <a:pPr indent="0" marL="0">
              <a:buNone/>
            </a:pPr>
            <a:r>
              <a:rPr lang="en-US" sz="3000" b="1" dirty="0">
                <a:solidFill>
                  <a:schemeClr val="accent5"/>
                </a:solidFill>
                <a:latin typeface="+mj-lt" pitchFamily="34" charset="0"/>
                <a:ea typeface="+mj-lt" pitchFamily="34" charset="-122"/>
                <a:cs typeface="+mj-lt" pitchFamily="34" charset="-120"/>
              </a:rPr>
              <a:t>8.1%</a:t>
            </a:r>
            <a:endParaRPr lang="en-US" sz="3000" dirty="0"/>
          </a:p>
        </p:txBody>
      </p:sp>
      <p:sp>
        <p:nvSpPr>
          <p:cNvPr id="15" name="Stat label 3"/>
          <p:cNvSpPr txBox="1"/>
          <p:nvPr/>
        </p:nvSpPr>
        <p:spPr>
          <a:xfrm>
            <a:off x="4764024" y="2057400"/>
            <a:ext cx="1645920" cy="685800"/>
          </a:xfrm>
          <a:prstGeom prst="rect">
            <a:avLst/>
          </a:prstGeom>
          <a:noFill/>
          <a:ln/>
        </p:spPr>
        <p:txBody>
          <a:bodyPr wrap="square" lIns="0" tIns="0" rIns="0" bIns="0" rtlCol="0" anchor="t"/>
          <a:lstStyle/>
          <a:p>
            <a:pPr indent="0" marL="0">
              <a:buNone/>
            </a:pPr>
            <a:r>
              <a:rPr lang="en-US" sz="1300" dirty="0">
                <a:solidFill>
                  <a:schemeClr val="tx1"/>
                </a:solidFill>
              </a:rPr>
              <a:t>of readings are outages: masked, never zero traffic</a:t>
            </a:r>
            <a:endParaRPr lang="en-US" sz="1300" dirty="0"/>
          </a:p>
        </p:txBody>
      </p:sp>
      <p:sp>
        <p:nvSpPr>
          <p:cNvPr id="16" name="Stat card 4"/>
          <p:cNvSpPr/>
          <p:nvPr/>
        </p:nvSpPr>
        <p:spPr>
          <a:xfrm>
            <a:off x="6711696" y="1371600"/>
            <a:ext cx="1920240" cy="1417320"/>
          </a:xfrm>
          <a:prstGeom prst="roundRect">
            <a:avLst>
              <a:gd name="adj" fmla="val 5161"/>
            </a:avLst>
          </a:prstGeom>
          <a:solidFill>
            <a:schemeClr val="bg2"/>
          </a:solidFill>
          <a:ln w="12700">
            <a:solidFill>
              <a:schemeClr val="bg2"/>
            </a:solidFill>
            <a:prstDash val="solid"/>
          </a:ln>
        </p:spPr>
      </p:sp>
      <p:sp>
        <p:nvSpPr>
          <p:cNvPr id="17" name="Stat 4"/>
          <p:cNvSpPr txBox="1"/>
          <p:nvPr/>
        </p:nvSpPr>
        <p:spPr>
          <a:xfrm>
            <a:off x="6848856" y="1463040"/>
            <a:ext cx="1645920" cy="54864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16 km/h</a:t>
            </a:r>
            <a:endParaRPr lang="en-US" sz="3000" dirty="0"/>
          </a:p>
        </p:txBody>
      </p:sp>
      <p:sp>
        <p:nvSpPr>
          <p:cNvPr id="18" name="Stat label 4"/>
          <p:cNvSpPr txBox="1"/>
          <p:nvPr/>
        </p:nvSpPr>
        <p:spPr>
          <a:xfrm>
            <a:off x="6848856" y="2057400"/>
            <a:ext cx="1645920" cy="685800"/>
          </a:xfrm>
          <a:prstGeom prst="rect">
            <a:avLst/>
          </a:prstGeom>
          <a:noFill/>
          <a:ln/>
        </p:spPr>
        <p:txBody>
          <a:bodyPr wrap="square" lIns="0" tIns="0" rIns="0" bIns="0" rtlCol="0" anchor="t"/>
          <a:lstStyle/>
          <a:p>
            <a:pPr indent="0" marL="0">
              <a:buNone/>
            </a:pPr>
            <a:r>
              <a:rPr lang="en-US" sz="1300" dirty="0">
                <a:solidFill>
                  <a:schemeClr val="tx1"/>
                </a:solidFill>
              </a:rPr>
              <a:t>speed at which congestion travels backwards</a:t>
            </a:r>
            <a:endParaRPr lang="en-US" sz="1300" dirty="0"/>
          </a:p>
        </p:txBody>
      </p:sp>
      <p:sp>
        <p:nvSpPr>
          <p:cNvPr id="19" name="Insight card 1"/>
          <p:cNvSpPr/>
          <p:nvPr/>
        </p:nvSpPr>
        <p:spPr>
          <a:xfrm>
            <a:off x="457200" y="2971800"/>
            <a:ext cx="4023360" cy="1600200"/>
          </a:xfrm>
          <a:prstGeom prst="roundRect">
            <a:avLst>
              <a:gd name="adj" fmla="val 4571"/>
            </a:avLst>
          </a:prstGeom>
          <a:solidFill>
            <a:schemeClr val="bg2"/>
          </a:solidFill>
          <a:ln w="12700">
            <a:solidFill>
              <a:schemeClr val="bg2"/>
            </a:solidFill>
            <a:prstDash val="solid"/>
          </a:ln>
        </p:spPr>
      </p:sp>
      <p:sp>
        <p:nvSpPr>
          <p:cNvPr id="20" name="Badge 1"/>
          <p:cNvSpPr/>
          <p:nvPr/>
        </p:nvSpPr>
        <p:spPr>
          <a:xfrm>
            <a:off x="640080" y="3127248"/>
            <a:ext cx="310896" cy="310896"/>
          </a:xfrm>
          <a:prstGeom prst="ellipse">
            <a:avLst/>
          </a:prstGeom>
          <a:solidFill>
            <a:schemeClr val="accent1"/>
          </a:solidFill>
          <a:ln w="12700">
            <a:solidFill>
              <a:schemeClr val="accent1"/>
            </a:solidFill>
            <a:prstDash val="solid"/>
          </a:ln>
        </p:spPr>
      </p:sp>
      <p:sp>
        <p:nvSpPr>
          <p:cNvPr id="21" name="Badge text 1"/>
          <p:cNvSpPr txBox="1"/>
          <p:nvPr/>
        </p:nvSpPr>
        <p:spPr>
          <a:xfrm>
            <a:off x="640080" y="31272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2" name="Insight title 1"/>
          <p:cNvSpPr txBox="1"/>
          <p:nvPr/>
        </p:nvSpPr>
        <p:spPr>
          <a:xfrm>
            <a:off x="1097280" y="3127248"/>
            <a:ext cx="3200400" cy="310896"/>
          </a:xfrm>
          <a:prstGeom prst="rect">
            <a:avLst/>
          </a:prstGeom>
          <a:noFill/>
          <a:ln/>
        </p:spPr>
        <p:txBody>
          <a:bodyPr wrap="square" lIns="0" tIns="0" rIns="0" bIns="0" rtlCol="0" anchor="ctr"/>
          <a:lstStyle/>
          <a:p>
            <a:pPr indent="0" marL="0">
              <a:buNone/>
            </a:pPr>
            <a:r>
              <a:rPr lang="en-US" sz="1600" b="1" dirty="0">
                <a:solidFill>
                  <a:schemeClr val="tx1"/>
                </a:solidFill>
              </a:rPr>
              <a:t>Missing data is mostly systemic</a:t>
            </a:r>
            <a:endParaRPr lang="en-US" sz="1600" dirty="0"/>
          </a:p>
        </p:txBody>
      </p:sp>
      <p:sp>
        <p:nvSpPr>
          <p:cNvPr id="23" name="Insight body 1"/>
          <p:cNvSpPr txBox="1"/>
          <p:nvPr/>
        </p:nvSpPr>
        <p:spPr>
          <a:xfrm>
            <a:off x="640080" y="3547872"/>
            <a:ext cx="3657600" cy="960120"/>
          </a:xfrm>
          <a:prstGeom prst="rect">
            <a:avLst/>
          </a:prstGeom>
          <a:noFill/>
          <a:ln/>
        </p:spPr>
        <p:txBody>
          <a:bodyPr wrap="square" lIns="0" tIns="0" rIns="0" bIns="0" rtlCol="0" anchor="t"/>
          <a:lstStyle/>
          <a:p>
            <a:pPr indent="0" marL="0">
              <a:buNone/>
            </a:pPr>
            <a:r>
              <a:rPr lang="en-US" sz="1400" dirty="0">
                <a:solidFill>
                  <a:schemeClr val="tx1"/>
                </a:solidFill>
              </a:rPr>
              <a:t>6.3 of the 8.1 points are whole-network outages (2,148 timestamps, up to 31.8 hours). Only 1.8 points are single-sensor failures.</a:t>
            </a:r>
            <a:endParaRPr lang="en-US" sz="1400" dirty="0"/>
          </a:p>
        </p:txBody>
      </p:sp>
      <p:sp>
        <p:nvSpPr>
          <p:cNvPr id="24" name="Insight card 2"/>
          <p:cNvSpPr/>
          <p:nvPr/>
        </p:nvSpPr>
        <p:spPr>
          <a:xfrm>
            <a:off x="4663440" y="2971800"/>
            <a:ext cx="4023360" cy="1600200"/>
          </a:xfrm>
          <a:prstGeom prst="roundRect">
            <a:avLst>
              <a:gd name="adj" fmla="val 4571"/>
            </a:avLst>
          </a:prstGeom>
          <a:solidFill>
            <a:schemeClr val="bg2"/>
          </a:solidFill>
          <a:ln w="12700">
            <a:solidFill>
              <a:schemeClr val="bg2"/>
            </a:solidFill>
            <a:prstDash val="solid"/>
          </a:ln>
        </p:spPr>
      </p:sp>
      <p:sp>
        <p:nvSpPr>
          <p:cNvPr id="25" name="Badge 2"/>
          <p:cNvSpPr/>
          <p:nvPr/>
        </p:nvSpPr>
        <p:spPr>
          <a:xfrm>
            <a:off x="4846320" y="3127248"/>
            <a:ext cx="310896" cy="310896"/>
          </a:xfrm>
          <a:prstGeom prst="ellipse">
            <a:avLst/>
          </a:prstGeom>
          <a:solidFill>
            <a:schemeClr val="accent1"/>
          </a:solidFill>
          <a:ln w="12700">
            <a:solidFill>
              <a:schemeClr val="accent1"/>
            </a:solidFill>
            <a:prstDash val="solid"/>
          </a:ln>
        </p:spPr>
      </p:sp>
      <p:sp>
        <p:nvSpPr>
          <p:cNvPr id="26" name="Badge text 2"/>
          <p:cNvSpPr txBox="1"/>
          <p:nvPr/>
        </p:nvSpPr>
        <p:spPr>
          <a:xfrm>
            <a:off x="4846320" y="312724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7" name="Insight title 2"/>
          <p:cNvSpPr txBox="1"/>
          <p:nvPr/>
        </p:nvSpPr>
        <p:spPr>
          <a:xfrm>
            <a:off x="5303520" y="3127248"/>
            <a:ext cx="3200400" cy="310896"/>
          </a:xfrm>
          <a:prstGeom prst="rect">
            <a:avLst/>
          </a:prstGeom>
          <a:noFill/>
          <a:ln/>
        </p:spPr>
        <p:txBody>
          <a:bodyPr wrap="square" lIns="0" tIns="0" rIns="0" bIns="0" rtlCol="0" anchor="ctr"/>
          <a:lstStyle/>
          <a:p>
            <a:pPr indent="0" marL="0">
              <a:buNone/>
            </a:pPr>
            <a:r>
              <a:rPr lang="en-US" sz="1600" b="1" dirty="0">
                <a:solidFill>
                  <a:schemeClr val="tx1"/>
                </a:solidFill>
              </a:rPr>
              <a:t>Direction matters</a:t>
            </a:r>
            <a:endParaRPr lang="en-US" sz="1600" dirty="0"/>
          </a:p>
        </p:txBody>
      </p:sp>
      <p:sp>
        <p:nvSpPr>
          <p:cNvPr id="28" name="Insight body 2"/>
          <p:cNvSpPr txBox="1"/>
          <p:nvPr/>
        </p:nvSpPr>
        <p:spPr>
          <a:xfrm>
            <a:off x="4846320" y="3547872"/>
            <a:ext cx="3657600" cy="960120"/>
          </a:xfrm>
          <a:prstGeom prst="rect">
            <a:avLst/>
          </a:prstGeom>
          <a:noFill/>
          <a:ln/>
        </p:spPr>
        <p:txBody>
          <a:bodyPr wrap="square" lIns="0" tIns="0" rIns="0" bIns="0" rtlCol="0" anchor="t"/>
          <a:lstStyle/>
          <a:p>
            <a:pPr indent="0" marL="0">
              <a:buNone/>
            </a:pPr>
            <a:r>
              <a:rPr lang="en-US" sz="1400" dirty="0">
                <a:solidFill>
                  <a:schemeClr val="tx1"/>
                </a:solidFill>
              </a:rPr>
              <a:t>Only 27% of 1,515 links are two-way. The downstream sensor slows first about 4 times more often, so a per-sensor model cannot see a jam coming.</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Leak-free by design</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Nothing the model is scored on may influence anything it is trained on</a:t>
            </a:r>
            <a:endParaRPr lang="en-US" sz="1600" dirty="0"/>
          </a:p>
        </p:txBody>
      </p:sp>
      <p:sp>
        <p:nvSpPr>
          <p:cNvPr id="7" name="Split bar Train 70%"/>
          <p:cNvSpPr/>
          <p:nvPr/>
        </p:nvSpPr>
        <p:spPr>
          <a:xfrm>
            <a:off x="457200" y="1371600"/>
            <a:ext cx="5683910" cy="502920"/>
          </a:xfrm>
          <a:prstGeom prst="rect">
            <a:avLst/>
          </a:prstGeom>
          <a:solidFill>
            <a:schemeClr val="accent1"/>
          </a:solidFill>
          <a:ln w="12700">
            <a:solidFill>
              <a:schemeClr val="accent1"/>
            </a:solidFill>
            <a:prstDash val="solid"/>
          </a:ln>
        </p:spPr>
      </p:sp>
      <p:sp>
        <p:nvSpPr>
          <p:cNvPr id="8" name="Split label Train 70%"/>
          <p:cNvSpPr txBox="1"/>
          <p:nvPr/>
        </p:nvSpPr>
        <p:spPr>
          <a:xfrm>
            <a:off x="457200" y="1371600"/>
            <a:ext cx="5683910" cy="502920"/>
          </a:xfrm>
          <a:prstGeom prst="rect">
            <a:avLst/>
          </a:prstGeom>
          <a:noFill/>
          <a:ln/>
        </p:spPr>
        <p:txBody>
          <a:bodyPr wrap="square" lIns="0" tIns="0" rIns="0" bIns="0" rtlCol="0" anchor="ctr"/>
          <a:lstStyle/>
          <a:p>
            <a:pPr algn="ctr" indent="0" marL="0">
              <a:buNone/>
            </a:pPr>
            <a:r>
              <a:rPr lang="en-US" sz="1300" b="1" dirty="0">
                <a:solidFill>
                  <a:schemeClr val="bg1"/>
                </a:solidFill>
              </a:rPr>
              <a:t>Train 70%</a:t>
            </a:r>
            <a:endParaRPr lang="en-US" sz="1300" dirty="0"/>
          </a:p>
        </p:txBody>
      </p:sp>
      <p:sp>
        <p:nvSpPr>
          <p:cNvPr id="9" name="Split bar Val"/>
          <p:cNvSpPr/>
          <p:nvPr/>
        </p:nvSpPr>
        <p:spPr>
          <a:xfrm>
            <a:off x="6195974" y="1371600"/>
            <a:ext cx="811987" cy="502920"/>
          </a:xfrm>
          <a:prstGeom prst="rect">
            <a:avLst/>
          </a:prstGeom>
          <a:solidFill>
            <a:schemeClr val="accent4"/>
          </a:solidFill>
          <a:ln w="12700">
            <a:solidFill>
              <a:schemeClr val="accent4"/>
            </a:solidFill>
            <a:prstDash val="solid"/>
          </a:ln>
        </p:spPr>
      </p:sp>
      <p:sp>
        <p:nvSpPr>
          <p:cNvPr id="10" name="Split label Val"/>
          <p:cNvSpPr txBox="1"/>
          <p:nvPr/>
        </p:nvSpPr>
        <p:spPr>
          <a:xfrm>
            <a:off x="6195974" y="1371600"/>
            <a:ext cx="811987" cy="502920"/>
          </a:xfrm>
          <a:prstGeom prst="rect">
            <a:avLst/>
          </a:prstGeom>
          <a:noFill/>
          <a:ln/>
        </p:spPr>
        <p:txBody>
          <a:bodyPr wrap="square" lIns="0" tIns="0" rIns="0" bIns="0" rtlCol="0" anchor="ctr"/>
          <a:lstStyle/>
          <a:p>
            <a:pPr algn="ctr" indent="0" marL="0">
              <a:buNone/>
            </a:pPr>
            <a:r>
              <a:rPr lang="en-US" sz="1300" b="1" dirty="0">
                <a:solidFill>
                  <a:schemeClr val="tx1"/>
                </a:solidFill>
              </a:rPr>
              <a:t>Val</a:t>
            </a:r>
            <a:endParaRPr lang="en-US" sz="1300" dirty="0"/>
          </a:p>
        </p:txBody>
      </p:sp>
      <p:sp>
        <p:nvSpPr>
          <p:cNvPr id="11" name="Split bar Test 20%"/>
          <p:cNvSpPr/>
          <p:nvPr/>
        </p:nvSpPr>
        <p:spPr>
          <a:xfrm>
            <a:off x="7062826" y="1371600"/>
            <a:ext cx="1623974" cy="502920"/>
          </a:xfrm>
          <a:prstGeom prst="rect">
            <a:avLst/>
          </a:prstGeom>
          <a:solidFill>
            <a:schemeClr val="accent2"/>
          </a:solidFill>
          <a:ln w="12700">
            <a:solidFill>
              <a:schemeClr val="accent2"/>
            </a:solidFill>
            <a:prstDash val="solid"/>
          </a:ln>
        </p:spPr>
      </p:sp>
      <p:sp>
        <p:nvSpPr>
          <p:cNvPr id="12" name="Split label Test 20%"/>
          <p:cNvSpPr txBox="1"/>
          <p:nvPr/>
        </p:nvSpPr>
        <p:spPr>
          <a:xfrm>
            <a:off x="7062826" y="1371600"/>
            <a:ext cx="1623974" cy="502920"/>
          </a:xfrm>
          <a:prstGeom prst="rect">
            <a:avLst/>
          </a:prstGeom>
          <a:noFill/>
          <a:ln/>
        </p:spPr>
        <p:txBody>
          <a:bodyPr wrap="square" lIns="0" tIns="0" rIns="0" bIns="0" rtlCol="0" anchor="ctr"/>
          <a:lstStyle/>
          <a:p>
            <a:pPr algn="ctr" indent="0" marL="0">
              <a:buNone/>
            </a:pPr>
            <a:r>
              <a:rPr lang="en-US" sz="1300" b="1" dirty="0">
                <a:solidFill>
                  <a:schemeClr val="bg1"/>
                </a:solidFill>
              </a:rPr>
              <a:t>Test 20%</a:t>
            </a:r>
            <a:endParaRPr lang="en-US" sz="1300" dirty="0"/>
          </a:p>
        </p:txBody>
      </p:sp>
      <p:sp>
        <p:nvSpPr>
          <p:cNvPr id="13" name="Legend swatch Train"/>
          <p:cNvSpPr/>
          <p:nvPr/>
        </p:nvSpPr>
        <p:spPr>
          <a:xfrm>
            <a:off x="457200" y="2084832"/>
            <a:ext cx="146304" cy="146304"/>
          </a:xfrm>
          <a:prstGeom prst="rect">
            <a:avLst/>
          </a:prstGeom>
          <a:solidFill>
            <a:schemeClr val="accent1"/>
          </a:solidFill>
          <a:ln w="12700">
            <a:solidFill>
              <a:schemeClr val="accent1"/>
            </a:solidFill>
            <a:prstDash val="solid"/>
          </a:ln>
        </p:spPr>
      </p:sp>
      <p:sp>
        <p:nvSpPr>
          <p:cNvPr id="14" name="Legend Train"/>
          <p:cNvSpPr txBox="1"/>
          <p:nvPr/>
        </p:nvSpPr>
        <p:spPr>
          <a:xfrm>
            <a:off x="685800" y="2011680"/>
            <a:ext cx="2560320" cy="292608"/>
          </a:xfrm>
          <a:prstGeom prst="rect">
            <a:avLst/>
          </a:prstGeom>
          <a:noFill/>
          <a:ln/>
        </p:spPr>
        <p:txBody>
          <a:bodyPr wrap="square" lIns="0" tIns="0" rIns="0" bIns="0" rtlCol="0" anchor="ctr"/>
          <a:lstStyle/>
          <a:p>
            <a:pPr indent="0" marL="0">
              <a:buNone/>
            </a:pPr>
            <a:r>
              <a:rPr lang="en-US" sz="1200" b="1" dirty="0">
                <a:solidFill>
                  <a:schemeClr val="tx1"/>
                </a:solidFill>
              </a:rPr>
              <a:t>Train  </a:t>
            </a:r>
            <a:pPr indent="0" marL="0">
              <a:buNone/>
            </a:pPr>
            <a:r>
              <a:rPr lang="en-US" sz="1200" dirty="0">
                <a:solidFill>
                  <a:schemeClr val="tx1"/>
                </a:solidFill>
              </a:rPr>
              <a:t>22,933 windows, 1 Mar to 23 May</a:t>
            </a:r>
            <a:endParaRPr lang="en-US" sz="1200" dirty="0"/>
          </a:p>
        </p:txBody>
      </p:sp>
      <p:sp>
        <p:nvSpPr>
          <p:cNvPr id="15" name="Legend swatch Val"/>
          <p:cNvSpPr/>
          <p:nvPr/>
        </p:nvSpPr>
        <p:spPr>
          <a:xfrm>
            <a:off x="3291840" y="2084832"/>
            <a:ext cx="146304" cy="146304"/>
          </a:xfrm>
          <a:prstGeom prst="rect">
            <a:avLst/>
          </a:prstGeom>
          <a:solidFill>
            <a:schemeClr val="accent4"/>
          </a:solidFill>
          <a:ln w="12700">
            <a:solidFill>
              <a:schemeClr val="accent4"/>
            </a:solidFill>
            <a:prstDash val="solid"/>
          </a:ln>
        </p:spPr>
      </p:sp>
      <p:sp>
        <p:nvSpPr>
          <p:cNvPr id="16" name="Legend Val"/>
          <p:cNvSpPr txBox="1"/>
          <p:nvPr/>
        </p:nvSpPr>
        <p:spPr>
          <a:xfrm>
            <a:off x="3520440" y="2011680"/>
            <a:ext cx="2560320" cy="292608"/>
          </a:xfrm>
          <a:prstGeom prst="rect">
            <a:avLst/>
          </a:prstGeom>
          <a:noFill/>
          <a:ln/>
        </p:spPr>
        <p:txBody>
          <a:bodyPr wrap="square" lIns="0" tIns="0" rIns="0" bIns="0" rtlCol="0" anchor="ctr"/>
          <a:lstStyle/>
          <a:p>
            <a:pPr indent="0" marL="0">
              <a:buNone/>
            </a:pPr>
            <a:r>
              <a:rPr lang="en-US" sz="1200" b="1" dirty="0">
                <a:solidFill>
                  <a:schemeClr val="tx1"/>
                </a:solidFill>
              </a:rPr>
              <a:t>Val  </a:t>
            </a:r>
            <a:pPr indent="0" marL="0">
              <a:buNone/>
            </a:pPr>
            <a:r>
              <a:rPr lang="en-US" sz="1200" dirty="0">
                <a:solidFill>
                  <a:schemeClr val="tx1"/>
                </a:solidFill>
              </a:rPr>
              <a:t>3,417 windows, to 4 Jun</a:t>
            </a:r>
            <a:endParaRPr lang="en-US" sz="1200" dirty="0"/>
          </a:p>
        </p:txBody>
      </p:sp>
      <p:sp>
        <p:nvSpPr>
          <p:cNvPr id="17" name="Legend swatch Test"/>
          <p:cNvSpPr/>
          <p:nvPr/>
        </p:nvSpPr>
        <p:spPr>
          <a:xfrm>
            <a:off x="6126480" y="2084832"/>
            <a:ext cx="146304" cy="146304"/>
          </a:xfrm>
          <a:prstGeom prst="rect">
            <a:avLst/>
          </a:prstGeom>
          <a:solidFill>
            <a:schemeClr val="accent2"/>
          </a:solidFill>
          <a:ln w="12700">
            <a:solidFill>
              <a:schemeClr val="accent2"/>
            </a:solidFill>
            <a:prstDash val="solid"/>
          </a:ln>
        </p:spPr>
      </p:sp>
      <p:sp>
        <p:nvSpPr>
          <p:cNvPr id="18" name="Legend Test"/>
          <p:cNvSpPr txBox="1"/>
          <p:nvPr/>
        </p:nvSpPr>
        <p:spPr>
          <a:xfrm>
            <a:off x="6355080" y="2011680"/>
            <a:ext cx="2560320" cy="292608"/>
          </a:xfrm>
          <a:prstGeom prst="rect">
            <a:avLst/>
          </a:prstGeom>
          <a:noFill/>
          <a:ln/>
        </p:spPr>
        <p:txBody>
          <a:bodyPr wrap="square" lIns="0" tIns="0" rIns="0" bIns="0" rtlCol="0" anchor="ctr"/>
          <a:lstStyle/>
          <a:p>
            <a:pPr indent="0" marL="0">
              <a:buNone/>
            </a:pPr>
            <a:r>
              <a:rPr lang="en-US" sz="1200" b="1" dirty="0">
                <a:solidFill>
                  <a:schemeClr val="tx1"/>
                </a:solidFill>
              </a:rPr>
              <a:t>Test  </a:t>
            </a:r>
            <a:pPr indent="0" marL="0">
              <a:buNone/>
            </a:pPr>
            <a:r>
              <a:rPr lang="en-US" sz="1200" dirty="0">
                <a:solidFill>
                  <a:schemeClr val="tx1"/>
                </a:solidFill>
              </a:rPr>
              <a:t>6,843 windows, 4 to 27 Jun</a:t>
            </a:r>
            <a:endParaRPr lang="en-US" sz="1200" dirty="0"/>
          </a:p>
        </p:txBody>
      </p:sp>
      <p:sp>
        <p:nvSpPr>
          <p:cNvPr id="19" name="Rule card 1"/>
          <p:cNvSpPr/>
          <p:nvPr/>
        </p:nvSpPr>
        <p:spPr>
          <a:xfrm>
            <a:off x="457200" y="2514600"/>
            <a:ext cx="4023360" cy="749808"/>
          </a:xfrm>
          <a:prstGeom prst="roundRect">
            <a:avLst>
              <a:gd name="adj" fmla="val 9756"/>
            </a:avLst>
          </a:prstGeom>
          <a:solidFill>
            <a:schemeClr val="bg2"/>
          </a:solidFill>
          <a:ln w="12700">
            <a:solidFill>
              <a:schemeClr val="bg2"/>
            </a:solidFill>
            <a:prstDash val="solid"/>
          </a:ln>
        </p:spPr>
      </p:sp>
      <p:sp>
        <p:nvSpPr>
          <p:cNvPr id="20" name="Badge 1"/>
          <p:cNvSpPr/>
          <p:nvPr/>
        </p:nvSpPr>
        <p:spPr>
          <a:xfrm>
            <a:off x="594360" y="2734056"/>
            <a:ext cx="310896" cy="310896"/>
          </a:xfrm>
          <a:prstGeom prst="ellipse">
            <a:avLst/>
          </a:prstGeom>
          <a:solidFill>
            <a:schemeClr val="accent3"/>
          </a:solidFill>
          <a:ln w="12700">
            <a:solidFill>
              <a:schemeClr val="accent3"/>
            </a:solidFill>
            <a:prstDash val="solid"/>
          </a:ln>
        </p:spPr>
      </p:sp>
      <p:sp>
        <p:nvSpPr>
          <p:cNvPr id="21" name="Badge text 1"/>
          <p:cNvSpPr txBox="1"/>
          <p:nvPr/>
        </p:nvSpPr>
        <p:spPr>
          <a:xfrm>
            <a:off x="594360" y="27340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2" name="Rule text 1"/>
          <p:cNvSpPr txBox="1"/>
          <p:nvPr/>
        </p:nvSpPr>
        <p:spPr>
          <a:xfrm>
            <a:off x="1024128" y="2560320"/>
            <a:ext cx="3383280" cy="658368"/>
          </a:xfrm>
          <a:prstGeom prst="rect">
            <a:avLst/>
          </a:prstGeom>
          <a:noFill/>
          <a:ln/>
        </p:spPr>
        <p:txBody>
          <a:bodyPr wrap="square" lIns="0" tIns="0" rIns="0" bIns="0" rtlCol="0" anchor="ctr"/>
          <a:lstStyle/>
          <a:p>
            <a:pPr indent="0" marL="0">
              <a:buNone/>
            </a:pPr>
            <a:r>
              <a:rPr lang="en-US" sz="1300" b="1" dirty="0">
                <a:solidFill>
                  <a:schemeClr val="tx1"/>
                </a:solidFill>
              </a:rPr>
              <a:t>Purge gap: </a:t>
            </a:r>
            <a:pPr indent="0" marL="0">
              <a:buNone/>
            </a:pPr>
            <a:r>
              <a:rPr lang="en-US" sz="1300" dirty="0">
                <a:solidFill>
                  <a:schemeClr val="tx1"/>
                </a:solidFill>
              </a:rPr>
              <a:t>11 boundary windows dropped per split, so no target lies in two splits.</a:t>
            </a:r>
            <a:endParaRPr lang="en-US" sz="1300" dirty="0"/>
          </a:p>
        </p:txBody>
      </p:sp>
      <p:sp>
        <p:nvSpPr>
          <p:cNvPr id="23" name="Rule card 2"/>
          <p:cNvSpPr/>
          <p:nvPr/>
        </p:nvSpPr>
        <p:spPr>
          <a:xfrm>
            <a:off x="4663440" y="2514600"/>
            <a:ext cx="4023360" cy="749808"/>
          </a:xfrm>
          <a:prstGeom prst="roundRect">
            <a:avLst>
              <a:gd name="adj" fmla="val 9756"/>
            </a:avLst>
          </a:prstGeom>
          <a:solidFill>
            <a:schemeClr val="bg2"/>
          </a:solidFill>
          <a:ln w="12700">
            <a:solidFill>
              <a:schemeClr val="bg2"/>
            </a:solidFill>
            <a:prstDash val="solid"/>
          </a:ln>
        </p:spPr>
      </p:sp>
      <p:sp>
        <p:nvSpPr>
          <p:cNvPr id="24" name="Badge 2"/>
          <p:cNvSpPr/>
          <p:nvPr/>
        </p:nvSpPr>
        <p:spPr>
          <a:xfrm>
            <a:off x="4800600" y="2734056"/>
            <a:ext cx="310896" cy="310896"/>
          </a:xfrm>
          <a:prstGeom prst="ellipse">
            <a:avLst/>
          </a:prstGeom>
          <a:solidFill>
            <a:schemeClr val="accent3"/>
          </a:solidFill>
          <a:ln w="12700">
            <a:solidFill>
              <a:schemeClr val="accent3"/>
            </a:solidFill>
            <a:prstDash val="solid"/>
          </a:ln>
        </p:spPr>
      </p:sp>
      <p:sp>
        <p:nvSpPr>
          <p:cNvPr id="25" name="Badge text 2"/>
          <p:cNvSpPr txBox="1"/>
          <p:nvPr/>
        </p:nvSpPr>
        <p:spPr>
          <a:xfrm>
            <a:off x="4800600" y="27340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6" name="Rule text 2"/>
          <p:cNvSpPr txBox="1"/>
          <p:nvPr/>
        </p:nvSpPr>
        <p:spPr>
          <a:xfrm>
            <a:off x="5230368" y="2560320"/>
            <a:ext cx="3383280" cy="658368"/>
          </a:xfrm>
          <a:prstGeom prst="rect">
            <a:avLst/>
          </a:prstGeom>
          <a:noFill/>
          <a:ln/>
        </p:spPr>
        <p:txBody>
          <a:bodyPr wrap="square" lIns="0" tIns="0" rIns="0" bIns="0" rtlCol="0" anchor="ctr"/>
          <a:lstStyle/>
          <a:p>
            <a:pPr indent="0" marL="0">
              <a:buNone/>
            </a:pPr>
            <a:r>
              <a:rPr lang="en-US" sz="1300" b="1" dirty="0">
                <a:solidFill>
                  <a:schemeClr val="tx1"/>
                </a:solidFill>
              </a:rPr>
              <a:t>Train-only scaling: </a:t>
            </a:r>
            <a:pPr indent="0" marL="0">
              <a:buNone/>
            </a:pPr>
            <a:r>
              <a:rPr lang="en-US" sz="1300" dirty="0">
                <a:solidFill>
                  <a:schemeClr val="tx1"/>
                </a:solidFill>
              </a:rPr>
              <a:t>Mean 58.6 mph and std 12.8 mph from training timestamps only.</a:t>
            </a:r>
            <a:endParaRPr lang="en-US" sz="1300" dirty="0"/>
          </a:p>
        </p:txBody>
      </p:sp>
      <p:sp>
        <p:nvSpPr>
          <p:cNvPr id="27" name="Rule card 3"/>
          <p:cNvSpPr/>
          <p:nvPr/>
        </p:nvSpPr>
        <p:spPr>
          <a:xfrm>
            <a:off x="457200" y="3355848"/>
            <a:ext cx="4023360" cy="749808"/>
          </a:xfrm>
          <a:prstGeom prst="roundRect">
            <a:avLst>
              <a:gd name="adj" fmla="val 9756"/>
            </a:avLst>
          </a:prstGeom>
          <a:solidFill>
            <a:schemeClr val="bg2"/>
          </a:solidFill>
          <a:ln w="12700">
            <a:solidFill>
              <a:schemeClr val="bg2"/>
            </a:solidFill>
            <a:prstDash val="solid"/>
          </a:ln>
        </p:spPr>
      </p:sp>
      <p:sp>
        <p:nvSpPr>
          <p:cNvPr id="28" name="Badge 3"/>
          <p:cNvSpPr/>
          <p:nvPr/>
        </p:nvSpPr>
        <p:spPr>
          <a:xfrm>
            <a:off x="594360" y="3575304"/>
            <a:ext cx="310896" cy="310896"/>
          </a:xfrm>
          <a:prstGeom prst="ellipse">
            <a:avLst/>
          </a:prstGeom>
          <a:solidFill>
            <a:schemeClr val="accent3"/>
          </a:solidFill>
          <a:ln w="12700">
            <a:solidFill>
              <a:schemeClr val="accent3"/>
            </a:solidFill>
            <a:prstDash val="solid"/>
          </a:ln>
        </p:spPr>
      </p:sp>
      <p:sp>
        <p:nvSpPr>
          <p:cNvPr id="29" name="Badge text 3"/>
          <p:cNvSpPr txBox="1"/>
          <p:nvPr/>
        </p:nvSpPr>
        <p:spPr>
          <a:xfrm>
            <a:off x="594360" y="357530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0" name="Rule text 3"/>
          <p:cNvSpPr txBox="1"/>
          <p:nvPr/>
        </p:nvSpPr>
        <p:spPr>
          <a:xfrm>
            <a:off x="1024128" y="3401568"/>
            <a:ext cx="3383280" cy="658368"/>
          </a:xfrm>
          <a:prstGeom prst="rect">
            <a:avLst/>
          </a:prstGeom>
          <a:noFill/>
          <a:ln/>
        </p:spPr>
        <p:txBody>
          <a:bodyPr wrap="square" lIns="0" tIns="0" rIns="0" bIns="0" rtlCol="0" anchor="ctr"/>
          <a:lstStyle/>
          <a:p>
            <a:pPr indent="0" marL="0">
              <a:buNone/>
            </a:pPr>
            <a:r>
              <a:rPr lang="en-US" sz="1300" b="1" dirty="0">
                <a:solidFill>
                  <a:schemeClr val="tx1"/>
                </a:solidFill>
              </a:rPr>
              <a:t>Outages masked: </a:t>
            </a:r>
            <a:pPr indent="0" marL="0">
              <a:buNone/>
            </a:pPr>
            <a:r>
              <a:rPr lang="en-US" sz="1300" dirty="0">
                <a:solidFill>
                  <a:schemeClr val="tx1"/>
                </a:solidFill>
              </a:rPr>
              <a:t>Missing is NaN, never 0 mph: mask channel, masked loss and masked metrics.</a:t>
            </a:r>
            <a:endParaRPr lang="en-US" sz="1300" dirty="0"/>
          </a:p>
        </p:txBody>
      </p:sp>
      <p:sp>
        <p:nvSpPr>
          <p:cNvPr id="31" name="Rule card 4"/>
          <p:cNvSpPr/>
          <p:nvPr/>
        </p:nvSpPr>
        <p:spPr>
          <a:xfrm>
            <a:off x="4663440" y="3355848"/>
            <a:ext cx="4023360" cy="749808"/>
          </a:xfrm>
          <a:prstGeom prst="roundRect">
            <a:avLst>
              <a:gd name="adj" fmla="val 9756"/>
            </a:avLst>
          </a:prstGeom>
          <a:solidFill>
            <a:schemeClr val="bg2"/>
          </a:solidFill>
          <a:ln w="12700">
            <a:solidFill>
              <a:schemeClr val="bg2"/>
            </a:solidFill>
            <a:prstDash val="solid"/>
          </a:ln>
        </p:spPr>
      </p:sp>
      <p:sp>
        <p:nvSpPr>
          <p:cNvPr id="32" name="Badge 4"/>
          <p:cNvSpPr/>
          <p:nvPr/>
        </p:nvSpPr>
        <p:spPr>
          <a:xfrm>
            <a:off x="4800600" y="3575304"/>
            <a:ext cx="310896" cy="310896"/>
          </a:xfrm>
          <a:prstGeom prst="ellipse">
            <a:avLst/>
          </a:prstGeom>
          <a:solidFill>
            <a:schemeClr val="accent3"/>
          </a:solidFill>
          <a:ln w="12700">
            <a:solidFill>
              <a:schemeClr val="accent3"/>
            </a:solidFill>
            <a:prstDash val="solid"/>
          </a:ln>
        </p:spPr>
      </p:sp>
      <p:sp>
        <p:nvSpPr>
          <p:cNvPr id="33" name="Badge text 4"/>
          <p:cNvSpPr txBox="1"/>
          <p:nvPr/>
        </p:nvSpPr>
        <p:spPr>
          <a:xfrm>
            <a:off x="4800600" y="357530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4" name="Rule text 4"/>
          <p:cNvSpPr txBox="1"/>
          <p:nvPr/>
        </p:nvSpPr>
        <p:spPr>
          <a:xfrm>
            <a:off x="5230368" y="3401568"/>
            <a:ext cx="3383280" cy="658368"/>
          </a:xfrm>
          <a:prstGeom prst="rect">
            <a:avLst/>
          </a:prstGeom>
          <a:noFill/>
          <a:ln/>
        </p:spPr>
        <p:txBody>
          <a:bodyPr wrap="square" lIns="0" tIns="0" rIns="0" bIns="0" rtlCol="0" anchor="ctr"/>
          <a:lstStyle/>
          <a:p>
            <a:pPr indent="0" marL="0">
              <a:buNone/>
            </a:pPr>
            <a:r>
              <a:rPr lang="en-US" sz="1300" b="1" dirty="0">
                <a:solidFill>
                  <a:schemeClr val="tx1"/>
                </a:solidFill>
              </a:rPr>
              <a:t>Equal history: </a:t>
            </a:r>
            <a:pPr indent="0" marL="0">
              <a:buNone/>
            </a:pPr>
            <a:r>
              <a:rPr lang="en-US" sz="1300" dirty="0">
                <a:solidFill>
                  <a:schemeClr val="tx1"/>
                </a:solidFill>
              </a:rPr>
              <a:t>Every model sees the same 12 steps (60 min) and forecasts 12 (5 to 60 min).</a:t>
            </a:r>
            <a:endParaRPr lang="en-US" sz="1300" dirty="0"/>
          </a:p>
        </p:txBody>
      </p:sp>
      <p:sp>
        <p:nvSpPr>
          <p:cNvPr id="35" name="Leak note"/>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b="1" dirty="0">
                <a:solidFill>
                  <a:schemeClr val="accent5"/>
                </a:solidFill>
              </a:rPr>
              <a:t>The reference DCRNN split overlaps train and val targets by 50 minutes. Ours does not: 12 leakage tests pass.</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Six baselines, one fair protocol</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From trivial to strong, on the same windows, masks and metrics</a:t>
            </a:r>
            <a:endParaRPr lang="en-US" sz="1600" dirty="0"/>
          </a:p>
        </p:txBody>
      </p:sp>
      <p:sp>
        <p:nvSpPr>
          <p:cNvPr id="7" name="Model card 0"/>
          <p:cNvSpPr/>
          <p:nvPr/>
        </p:nvSpPr>
        <p:spPr>
          <a:xfrm>
            <a:off x="457200" y="1371600"/>
            <a:ext cx="2560320" cy="1325880"/>
          </a:xfrm>
          <a:prstGeom prst="roundRect">
            <a:avLst>
              <a:gd name="adj" fmla="val 5517"/>
            </a:avLst>
          </a:prstGeom>
          <a:solidFill>
            <a:schemeClr val="bg2"/>
          </a:solidFill>
          <a:ln w="12700">
            <a:solidFill>
              <a:schemeClr val="bg2"/>
            </a:solidFill>
            <a:prstDash val="solid"/>
          </a:ln>
        </p:spPr>
      </p:sp>
      <p:sp>
        <p:nvSpPr>
          <p:cNvPr id="8" name="Badge 0"/>
          <p:cNvSpPr/>
          <p:nvPr/>
        </p:nvSpPr>
        <p:spPr>
          <a:xfrm>
            <a:off x="621792" y="1517904"/>
            <a:ext cx="329184" cy="329184"/>
          </a:xfrm>
          <a:prstGeom prst="ellipse">
            <a:avLst/>
          </a:prstGeom>
          <a:solidFill>
            <a:schemeClr val="accent1"/>
          </a:solidFill>
          <a:ln w="12700">
            <a:solidFill>
              <a:schemeClr val="accent1"/>
            </a:solidFill>
            <a:prstDash val="solid"/>
          </a:ln>
        </p:spPr>
      </p:sp>
      <p:sp>
        <p:nvSpPr>
          <p:cNvPr id="9" name="Badge text 0"/>
          <p:cNvSpPr txBox="1"/>
          <p:nvPr/>
        </p:nvSpPr>
        <p:spPr>
          <a:xfrm>
            <a:off x="621792" y="151790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0</a:t>
            </a:r>
            <a:endParaRPr lang="en-US" sz="1300" dirty="0"/>
          </a:p>
        </p:txBody>
      </p:sp>
      <p:sp>
        <p:nvSpPr>
          <p:cNvPr id="10" name="Model name 0"/>
          <p:cNvSpPr txBox="1"/>
          <p:nvPr/>
        </p:nvSpPr>
        <p:spPr>
          <a:xfrm>
            <a:off x="1051560" y="1517904"/>
            <a:ext cx="1874520" cy="32918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Persistence</a:t>
            </a:r>
            <a:endParaRPr lang="en-US" sz="1500" dirty="0"/>
          </a:p>
        </p:txBody>
      </p:sp>
      <p:sp>
        <p:nvSpPr>
          <p:cNvPr id="11" name="Model text 0"/>
          <p:cNvSpPr txBox="1"/>
          <p:nvPr/>
        </p:nvSpPr>
        <p:spPr>
          <a:xfrm>
            <a:off x="621792" y="1938528"/>
            <a:ext cx="2240280" cy="713232"/>
          </a:xfrm>
          <a:prstGeom prst="rect">
            <a:avLst/>
          </a:prstGeom>
          <a:noFill/>
          <a:ln/>
        </p:spPr>
        <p:txBody>
          <a:bodyPr wrap="square" lIns="0" tIns="0" rIns="0" bIns="0" rtlCol="0" anchor="t"/>
          <a:lstStyle/>
          <a:p>
            <a:pPr indent="0" marL="0">
              <a:buNone/>
            </a:pPr>
            <a:r>
              <a:rPr lang="en-US" sz="1300" dirty="0">
                <a:solidFill>
                  <a:schemeClr val="tx1"/>
                </a:solidFill>
              </a:rPr>
              <a:t>Repeat the last speed. The floor.</a:t>
            </a:r>
            <a:endParaRPr lang="en-US" sz="1300" dirty="0"/>
          </a:p>
        </p:txBody>
      </p:sp>
      <p:sp>
        <p:nvSpPr>
          <p:cNvPr id="12" name="Model card 1"/>
          <p:cNvSpPr/>
          <p:nvPr/>
        </p:nvSpPr>
        <p:spPr>
          <a:xfrm>
            <a:off x="3291840" y="1371600"/>
            <a:ext cx="2560320" cy="1325880"/>
          </a:xfrm>
          <a:prstGeom prst="roundRect">
            <a:avLst>
              <a:gd name="adj" fmla="val 5517"/>
            </a:avLst>
          </a:prstGeom>
          <a:solidFill>
            <a:schemeClr val="bg2"/>
          </a:solidFill>
          <a:ln w="12700">
            <a:solidFill>
              <a:schemeClr val="bg2"/>
            </a:solidFill>
            <a:prstDash val="solid"/>
          </a:ln>
        </p:spPr>
      </p:sp>
      <p:sp>
        <p:nvSpPr>
          <p:cNvPr id="13" name="Badge 1"/>
          <p:cNvSpPr/>
          <p:nvPr/>
        </p:nvSpPr>
        <p:spPr>
          <a:xfrm>
            <a:off x="3456432" y="1517904"/>
            <a:ext cx="329184" cy="329184"/>
          </a:xfrm>
          <a:prstGeom prst="ellipse">
            <a:avLst/>
          </a:prstGeom>
          <a:solidFill>
            <a:schemeClr val="accent1"/>
          </a:solidFill>
          <a:ln w="12700">
            <a:solidFill>
              <a:schemeClr val="accent1"/>
            </a:solidFill>
            <a:prstDash val="solid"/>
          </a:ln>
        </p:spPr>
      </p:sp>
      <p:sp>
        <p:nvSpPr>
          <p:cNvPr id="14" name="Badge text 1"/>
          <p:cNvSpPr txBox="1"/>
          <p:nvPr/>
        </p:nvSpPr>
        <p:spPr>
          <a:xfrm>
            <a:off x="3456432" y="151790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5" name="Model name 1"/>
          <p:cNvSpPr txBox="1"/>
          <p:nvPr/>
        </p:nvSpPr>
        <p:spPr>
          <a:xfrm>
            <a:off x="3886200" y="1517904"/>
            <a:ext cx="1874520" cy="32918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Historical average</a:t>
            </a:r>
            <a:endParaRPr lang="en-US" sz="1500" dirty="0"/>
          </a:p>
        </p:txBody>
      </p:sp>
      <p:sp>
        <p:nvSpPr>
          <p:cNvPr id="16" name="Model text 1"/>
          <p:cNvSpPr txBox="1"/>
          <p:nvPr/>
        </p:nvSpPr>
        <p:spPr>
          <a:xfrm>
            <a:off x="3456432" y="1938528"/>
            <a:ext cx="2240280" cy="713232"/>
          </a:xfrm>
          <a:prstGeom prst="rect">
            <a:avLst/>
          </a:prstGeom>
          <a:noFill/>
          <a:ln/>
        </p:spPr>
        <p:txBody>
          <a:bodyPr wrap="square" lIns="0" tIns="0" rIns="0" bIns="0" rtlCol="0" anchor="t"/>
          <a:lstStyle/>
          <a:p>
            <a:pPr indent="0" marL="0">
              <a:buNone/>
            </a:pPr>
            <a:r>
              <a:rPr lang="en-US" sz="1300" dirty="0">
                <a:solidFill>
                  <a:schemeClr val="tx1"/>
                </a:solidFill>
              </a:rPr>
              <a:t>Mean per weekday or weekend and 5-minute slot.</a:t>
            </a:r>
            <a:endParaRPr lang="en-US" sz="1300" dirty="0"/>
          </a:p>
        </p:txBody>
      </p:sp>
      <p:sp>
        <p:nvSpPr>
          <p:cNvPr id="17" name="Model card 2"/>
          <p:cNvSpPr/>
          <p:nvPr/>
        </p:nvSpPr>
        <p:spPr>
          <a:xfrm>
            <a:off x="6126480" y="1371600"/>
            <a:ext cx="2560320" cy="1325880"/>
          </a:xfrm>
          <a:prstGeom prst="roundRect">
            <a:avLst>
              <a:gd name="adj" fmla="val 5517"/>
            </a:avLst>
          </a:prstGeom>
          <a:solidFill>
            <a:schemeClr val="bg2"/>
          </a:solidFill>
          <a:ln w="12700">
            <a:solidFill>
              <a:schemeClr val="bg2"/>
            </a:solidFill>
            <a:prstDash val="solid"/>
          </a:ln>
        </p:spPr>
      </p:sp>
      <p:sp>
        <p:nvSpPr>
          <p:cNvPr id="18" name="Badge 2"/>
          <p:cNvSpPr/>
          <p:nvPr/>
        </p:nvSpPr>
        <p:spPr>
          <a:xfrm>
            <a:off x="6291072" y="1517904"/>
            <a:ext cx="329184" cy="329184"/>
          </a:xfrm>
          <a:prstGeom prst="ellipse">
            <a:avLst/>
          </a:prstGeom>
          <a:solidFill>
            <a:schemeClr val="accent1"/>
          </a:solidFill>
          <a:ln w="12700">
            <a:solidFill>
              <a:schemeClr val="accent1"/>
            </a:solidFill>
            <a:prstDash val="solid"/>
          </a:ln>
        </p:spPr>
      </p:sp>
      <p:sp>
        <p:nvSpPr>
          <p:cNvPr id="19" name="Badge text 2"/>
          <p:cNvSpPr txBox="1"/>
          <p:nvPr/>
        </p:nvSpPr>
        <p:spPr>
          <a:xfrm>
            <a:off x="6291072" y="151790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0" name="Model name 2"/>
          <p:cNvSpPr txBox="1"/>
          <p:nvPr/>
        </p:nvSpPr>
        <p:spPr>
          <a:xfrm>
            <a:off x="6720840" y="1517904"/>
            <a:ext cx="1874520" cy="32918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Ridge per sensor</a:t>
            </a:r>
            <a:endParaRPr lang="en-US" sz="1500" dirty="0"/>
          </a:p>
        </p:txBody>
      </p:sp>
      <p:sp>
        <p:nvSpPr>
          <p:cNvPr id="21" name="Model text 2"/>
          <p:cNvSpPr txBox="1"/>
          <p:nvPr/>
        </p:nvSpPr>
        <p:spPr>
          <a:xfrm>
            <a:off x="6291072" y="1938528"/>
            <a:ext cx="2240280" cy="713232"/>
          </a:xfrm>
          <a:prstGeom prst="rect">
            <a:avLst/>
          </a:prstGeom>
          <a:noFill/>
          <a:ln/>
        </p:spPr>
        <p:txBody>
          <a:bodyPr wrap="square" lIns="0" tIns="0" rIns="0" bIns="0" rtlCol="0" anchor="t"/>
          <a:lstStyle/>
          <a:p>
            <a:pPr indent="0" marL="0">
              <a:buNone/>
            </a:pPr>
            <a:r>
              <a:rPr lang="en-US" sz="1300" dirty="0">
                <a:solidFill>
                  <a:schemeClr val="tx1"/>
                </a:solidFill>
              </a:rPr>
              <a:t>207 x 12 linear models on each sensor's own history.</a:t>
            </a:r>
            <a:endParaRPr lang="en-US" sz="1300" dirty="0"/>
          </a:p>
        </p:txBody>
      </p:sp>
      <p:sp>
        <p:nvSpPr>
          <p:cNvPr id="22" name="Model card 3"/>
          <p:cNvSpPr/>
          <p:nvPr/>
        </p:nvSpPr>
        <p:spPr>
          <a:xfrm>
            <a:off x="457200" y="2834640"/>
            <a:ext cx="2560320" cy="1325880"/>
          </a:xfrm>
          <a:prstGeom prst="roundRect">
            <a:avLst>
              <a:gd name="adj" fmla="val 5517"/>
            </a:avLst>
          </a:prstGeom>
          <a:solidFill>
            <a:schemeClr val="tx1"/>
          </a:solidFill>
          <a:ln w="12700">
            <a:solidFill>
              <a:schemeClr val="tx1"/>
            </a:solidFill>
            <a:prstDash val="solid"/>
          </a:ln>
        </p:spPr>
      </p:sp>
      <p:sp>
        <p:nvSpPr>
          <p:cNvPr id="23" name="Badge 3"/>
          <p:cNvSpPr/>
          <p:nvPr/>
        </p:nvSpPr>
        <p:spPr>
          <a:xfrm>
            <a:off x="621792" y="2980944"/>
            <a:ext cx="329184" cy="329184"/>
          </a:xfrm>
          <a:prstGeom prst="ellipse">
            <a:avLst/>
          </a:prstGeom>
          <a:solidFill>
            <a:schemeClr val="accent4"/>
          </a:solidFill>
          <a:ln w="12700">
            <a:solidFill>
              <a:schemeClr val="accent4"/>
            </a:solidFill>
            <a:prstDash val="solid"/>
          </a:ln>
        </p:spPr>
      </p:sp>
      <p:sp>
        <p:nvSpPr>
          <p:cNvPr id="24" name="Badge text 3"/>
          <p:cNvSpPr txBox="1"/>
          <p:nvPr/>
        </p:nvSpPr>
        <p:spPr>
          <a:xfrm>
            <a:off x="621792" y="2980944"/>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5" name="Model name 3"/>
          <p:cNvSpPr txBox="1"/>
          <p:nvPr/>
        </p:nvSpPr>
        <p:spPr>
          <a:xfrm>
            <a:off x="1051560" y="2980944"/>
            <a:ext cx="1874520" cy="329184"/>
          </a:xfrm>
          <a:prstGeom prst="rect">
            <a:avLst/>
          </a:prstGeom>
          <a:noFill/>
          <a:ln/>
        </p:spPr>
        <p:txBody>
          <a:bodyPr wrap="square" lIns="0" tIns="0" rIns="0" bIns="0" rtlCol="0" anchor="ctr"/>
          <a:lstStyle/>
          <a:p>
            <a:pPr indent="0" marL="0">
              <a:buNone/>
            </a:pPr>
            <a:r>
              <a:rPr lang="en-US" sz="1500" b="1" dirty="0">
                <a:solidFill>
                  <a:schemeClr val="bg1"/>
                </a:solidFill>
                <a:latin typeface="+mj-lt" pitchFamily="34" charset="0"/>
                <a:ea typeface="+mj-lt" pitchFamily="34" charset="-122"/>
                <a:cs typeface="+mj-lt" pitchFamily="34" charset="-120"/>
              </a:rPr>
              <a:t>XGBoost per horizon</a:t>
            </a:r>
            <a:endParaRPr lang="en-US" sz="1500" dirty="0"/>
          </a:p>
        </p:txBody>
      </p:sp>
      <p:sp>
        <p:nvSpPr>
          <p:cNvPr id="26" name="Model text 3"/>
          <p:cNvSpPr txBox="1"/>
          <p:nvPr/>
        </p:nvSpPr>
        <p:spPr>
          <a:xfrm>
            <a:off x="621792" y="3401568"/>
            <a:ext cx="2240280" cy="713232"/>
          </a:xfrm>
          <a:prstGeom prst="rect">
            <a:avLst/>
          </a:prstGeom>
          <a:noFill/>
          <a:ln/>
        </p:spPr>
        <p:txBody>
          <a:bodyPr wrap="square" lIns="0" tIns="0" rIns="0" bIns="0" rtlCol="0" anchor="t"/>
          <a:lstStyle/>
          <a:p>
            <a:pPr indent="0" marL="0">
              <a:buNone/>
            </a:pPr>
            <a:r>
              <a:rPr lang="en-US" sz="1300" dirty="0">
                <a:solidFill>
                  <a:schemeClr val="bg2"/>
                </a:solidFill>
              </a:rPr>
              <a:t>One model per horizon, all sensors stacked. The brief's baseline.</a:t>
            </a:r>
            <a:endParaRPr lang="en-US" sz="1300" dirty="0"/>
          </a:p>
        </p:txBody>
      </p:sp>
      <p:sp>
        <p:nvSpPr>
          <p:cNvPr id="27" name="Model card 4"/>
          <p:cNvSpPr/>
          <p:nvPr/>
        </p:nvSpPr>
        <p:spPr>
          <a:xfrm>
            <a:off x="3291840" y="2834640"/>
            <a:ext cx="2560320" cy="1325880"/>
          </a:xfrm>
          <a:prstGeom prst="roundRect">
            <a:avLst>
              <a:gd name="adj" fmla="val 5517"/>
            </a:avLst>
          </a:prstGeom>
          <a:solidFill>
            <a:schemeClr val="bg2"/>
          </a:solidFill>
          <a:ln w="12700">
            <a:solidFill>
              <a:schemeClr val="bg2"/>
            </a:solidFill>
            <a:prstDash val="solid"/>
          </a:ln>
        </p:spPr>
      </p:sp>
      <p:sp>
        <p:nvSpPr>
          <p:cNvPr id="28" name="Badge 4"/>
          <p:cNvSpPr/>
          <p:nvPr/>
        </p:nvSpPr>
        <p:spPr>
          <a:xfrm>
            <a:off x="3456432" y="2980944"/>
            <a:ext cx="329184" cy="329184"/>
          </a:xfrm>
          <a:prstGeom prst="ellipse">
            <a:avLst/>
          </a:prstGeom>
          <a:solidFill>
            <a:schemeClr val="accent1"/>
          </a:solidFill>
          <a:ln w="12700">
            <a:solidFill>
              <a:schemeClr val="accent1"/>
            </a:solidFill>
            <a:prstDash val="solid"/>
          </a:ln>
        </p:spPr>
      </p:sp>
      <p:sp>
        <p:nvSpPr>
          <p:cNvPr id="29" name="Badge text 4"/>
          <p:cNvSpPr txBox="1"/>
          <p:nvPr/>
        </p:nvSpPr>
        <p:spPr>
          <a:xfrm>
            <a:off x="3456432" y="298094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Model name 4"/>
          <p:cNvSpPr txBox="1"/>
          <p:nvPr/>
        </p:nvSpPr>
        <p:spPr>
          <a:xfrm>
            <a:off x="3886200" y="2980944"/>
            <a:ext cx="1874520" cy="32918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Random Forest</a:t>
            </a:r>
            <a:endParaRPr lang="en-US" sz="1500" dirty="0"/>
          </a:p>
        </p:txBody>
      </p:sp>
      <p:sp>
        <p:nvSpPr>
          <p:cNvPr id="31" name="Model text 4"/>
          <p:cNvSpPr txBox="1"/>
          <p:nvPr/>
        </p:nvSpPr>
        <p:spPr>
          <a:xfrm>
            <a:off x="3456432" y="3401568"/>
            <a:ext cx="2240280" cy="713232"/>
          </a:xfrm>
          <a:prstGeom prst="rect">
            <a:avLst/>
          </a:prstGeom>
          <a:noFill/>
          <a:ln/>
        </p:spPr>
        <p:txBody>
          <a:bodyPr wrap="square" lIns="0" tIns="0" rIns="0" bIns="0" rtlCol="0" anchor="t"/>
          <a:lstStyle/>
          <a:p>
            <a:pPr indent="0" marL="0">
              <a:buNone/>
            </a:pPr>
            <a:r>
              <a:rPr lang="en-US" sz="1300" dirty="0">
                <a:solidFill>
                  <a:schemeClr val="tx1"/>
                </a:solidFill>
              </a:rPr>
              <a:t>One multi-output forest predicting all 12 horizons.</a:t>
            </a:r>
            <a:endParaRPr lang="en-US" sz="1300" dirty="0"/>
          </a:p>
        </p:txBody>
      </p:sp>
      <p:sp>
        <p:nvSpPr>
          <p:cNvPr id="32" name="Model card 5"/>
          <p:cNvSpPr/>
          <p:nvPr/>
        </p:nvSpPr>
        <p:spPr>
          <a:xfrm>
            <a:off x="6126480" y="2834640"/>
            <a:ext cx="2560320" cy="1325880"/>
          </a:xfrm>
          <a:prstGeom prst="roundRect">
            <a:avLst>
              <a:gd name="adj" fmla="val 5517"/>
            </a:avLst>
          </a:prstGeom>
          <a:solidFill>
            <a:schemeClr val="bg2"/>
          </a:solidFill>
          <a:ln w="12700">
            <a:solidFill>
              <a:schemeClr val="bg2"/>
            </a:solidFill>
            <a:prstDash val="solid"/>
          </a:ln>
        </p:spPr>
      </p:sp>
      <p:sp>
        <p:nvSpPr>
          <p:cNvPr id="33" name="Badge 5"/>
          <p:cNvSpPr/>
          <p:nvPr/>
        </p:nvSpPr>
        <p:spPr>
          <a:xfrm>
            <a:off x="6291072" y="2980944"/>
            <a:ext cx="329184" cy="329184"/>
          </a:xfrm>
          <a:prstGeom prst="ellipse">
            <a:avLst/>
          </a:prstGeom>
          <a:solidFill>
            <a:schemeClr val="accent1"/>
          </a:solidFill>
          <a:ln w="12700">
            <a:solidFill>
              <a:schemeClr val="accent1"/>
            </a:solidFill>
            <a:prstDash val="solid"/>
          </a:ln>
        </p:spPr>
      </p:sp>
      <p:sp>
        <p:nvSpPr>
          <p:cNvPr id="34" name="Badge text 5"/>
          <p:cNvSpPr txBox="1"/>
          <p:nvPr/>
        </p:nvSpPr>
        <p:spPr>
          <a:xfrm>
            <a:off x="6291072" y="298094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5" name="Model name 5"/>
          <p:cNvSpPr txBox="1"/>
          <p:nvPr/>
        </p:nvSpPr>
        <p:spPr>
          <a:xfrm>
            <a:off x="6720840" y="2980944"/>
            <a:ext cx="1874520" cy="32918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LSTM, no graph</a:t>
            </a:r>
            <a:endParaRPr lang="en-US" sz="1500" dirty="0"/>
          </a:p>
        </p:txBody>
      </p:sp>
      <p:sp>
        <p:nvSpPr>
          <p:cNvPr id="36" name="Model text 5"/>
          <p:cNvSpPr txBox="1"/>
          <p:nvPr/>
        </p:nvSpPr>
        <p:spPr>
          <a:xfrm>
            <a:off x="6291072" y="3401568"/>
            <a:ext cx="2240280" cy="713232"/>
          </a:xfrm>
          <a:prstGeom prst="rect">
            <a:avLst/>
          </a:prstGeom>
          <a:noFill/>
          <a:ln/>
        </p:spPr>
        <p:txBody>
          <a:bodyPr wrap="square" lIns="0" tIns="0" rIns="0" bIns="0" rtlCol="0" anchor="t"/>
          <a:lstStyle/>
          <a:p>
            <a:pPr indent="0" marL="0">
              <a:buNone/>
            </a:pPr>
            <a:r>
              <a:rPr lang="en-US" sz="1300" dirty="0">
                <a:solidFill>
                  <a:schemeClr val="tx1"/>
                </a:solidFill>
              </a:rPr>
              <a:t>Weights shared across sensors: isolates deep learning from the graph.</a:t>
            </a:r>
            <a:endParaRPr lang="en-US" sz="1300" dirty="0"/>
          </a:p>
        </p:txBody>
      </p:sp>
      <p:sp>
        <p:nvSpPr>
          <p:cNvPr id="37" name="Feature note"/>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1200" dirty="0">
                <a:solidFill>
                  <a:schemeClr val="accent6"/>
                </a:solidFill>
              </a:rPr>
              <a:t>46 features per sensor and time: 12 lags, rolling stats, changes, missing flags, time of day and week, segment descriptors. Tuned on validation only. METR-LA has speed only, so flow and occupancy wait for PeMS (Phase 9).</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XGBoost is the strongest baseline</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Test MAE (mph) by forecast horizon, lower is better</a:t>
            </a:r>
            <a:endParaRPr lang="en-US" sz="1600" dirty="0"/>
          </a:p>
        </p:txBody>
      </p:sp>
      <p:graphicFrame>
        <p:nvGraphicFramePr>
          <p:cNvPr id="7" name="MAE by horizon chart" descr=""/>
          <p:cNvGraphicFramePr/>
          <p:nvPr/>
        </p:nvGraphicFramePr>
        <p:xfrm>
          <a:off x="365760" y="1280160"/>
          <a:ext cx="5669280" cy="3383280"/>
        </p:xfrm>
        <a:graphic xmlns:a="http://schemas.openxmlformats.org/drawingml/2006/main">
          <a:graphicData uri="http://schemas.openxmlformats.org/drawingml/2006/chart">
            <c:chart xmlns:c="http://schemas.openxmlformats.org/drawingml/2006/chart" r:id="rId1"/>
          </a:graphicData>
        </a:graphic>
      </p:graphicFrame>
      <p:sp>
        <p:nvSpPr>
          <p:cNvPr id="8" name="Result card 1"/>
          <p:cNvSpPr/>
          <p:nvPr/>
        </p:nvSpPr>
        <p:spPr>
          <a:xfrm>
            <a:off x="6217920" y="1325880"/>
            <a:ext cx="2468880" cy="1005840"/>
          </a:xfrm>
          <a:prstGeom prst="roundRect">
            <a:avLst>
              <a:gd name="adj" fmla="val 7273"/>
            </a:avLst>
          </a:prstGeom>
          <a:solidFill>
            <a:schemeClr val="bg2"/>
          </a:solidFill>
          <a:ln w="12700">
            <a:solidFill>
              <a:schemeClr val="bg2"/>
            </a:solidFill>
            <a:prstDash val="solid"/>
          </a:ln>
        </p:spPr>
      </p:sp>
      <p:sp>
        <p:nvSpPr>
          <p:cNvPr id="9" name="Result number 1"/>
          <p:cNvSpPr txBox="1"/>
          <p:nvPr/>
        </p:nvSpPr>
        <p:spPr>
          <a:xfrm>
            <a:off x="6355080" y="1399032"/>
            <a:ext cx="224028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3.02  |  3.51  |  4.01</a:t>
            </a:r>
            <a:endParaRPr lang="en-US" sz="2000" dirty="0"/>
          </a:p>
        </p:txBody>
      </p:sp>
      <p:sp>
        <p:nvSpPr>
          <p:cNvPr id="10" name="Result label 1"/>
          <p:cNvSpPr txBox="1"/>
          <p:nvPr/>
        </p:nvSpPr>
        <p:spPr>
          <a:xfrm>
            <a:off x="6355080" y="1837944"/>
            <a:ext cx="2240280" cy="457200"/>
          </a:xfrm>
          <a:prstGeom prst="rect">
            <a:avLst/>
          </a:prstGeom>
          <a:noFill/>
          <a:ln/>
        </p:spPr>
        <p:txBody>
          <a:bodyPr wrap="square" lIns="0" tIns="0" rIns="0" bIns="0" rtlCol="0" anchor="t"/>
          <a:lstStyle/>
          <a:p>
            <a:pPr indent="0" marL="0">
              <a:buNone/>
            </a:pPr>
            <a:r>
              <a:rPr lang="en-US" sz="1200" dirty="0">
                <a:solidFill>
                  <a:schemeClr val="tx1"/>
                </a:solidFill>
              </a:rPr>
              <a:t>XGBoost MAE (mph) at 15, 30, 60 min</a:t>
            </a:r>
            <a:endParaRPr lang="en-US" sz="1200" dirty="0"/>
          </a:p>
        </p:txBody>
      </p:sp>
      <p:sp>
        <p:nvSpPr>
          <p:cNvPr id="11" name="Result card 2"/>
          <p:cNvSpPr/>
          <p:nvPr/>
        </p:nvSpPr>
        <p:spPr>
          <a:xfrm>
            <a:off x="6217920" y="2441448"/>
            <a:ext cx="2468880" cy="1005840"/>
          </a:xfrm>
          <a:prstGeom prst="roundRect">
            <a:avLst>
              <a:gd name="adj" fmla="val 7273"/>
            </a:avLst>
          </a:prstGeom>
          <a:solidFill>
            <a:schemeClr val="bg2"/>
          </a:solidFill>
          <a:ln w="12700">
            <a:solidFill>
              <a:schemeClr val="bg2"/>
            </a:solidFill>
            <a:prstDash val="solid"/>
          </a:ln>
        </p:spPr>
      </p:sp>
      <p:sp>
        <p:nvSpPr>
          <p:cNvPr id="12" name="Result number 2"/>
          <p:cNvSpPr txBox="1"/>
          <p:nvPr/>
        </p:nvSpPr>
        <p:spPr>
          <a:xfrm>
            <a:off x="6355080" y="2514600"/>
            <a:ext cx="2240280" cy="411480"/>
          </a:xfrm>
          <a:prstGeom prst="rect">
            <a:avLst/>
          </a:prstGeom>
          <a:noFill/>
          <a:ln/>
        </p:spPr>
        <p:txBody>
          <a:bodyPr wrap="square" lIns="0" tIns="0" rIns="0" bIns="0" rtlCol="0" anchor="ctr"/>
          <a:lstStyle/>
          <a:p>
            <a:pPr indent="0" marL="0">
              <a:buNone/>
            </a:pPr>
            <a:r>
              <a:rPr lang="en-US" sz="2600" b="1" dirty="0">
                <a:solidFill>
                  <a:schemeClr val="accent3"/>
                </a:solidFill>
                <a:latin typeface="+mj-lt" pitchFamily="34" charset="0"/>
                <a:ea typeface="+mj-lt" pitchFamily="34" charset="-122"/>
                <a:cs typeface="+mj-lt" pitchFamily="34" charset="-120"/>
              </a:rPr>
              <a:t>-25%</a:t>
            </a:r>
            <a:endParaRPr lang="en-US" sz="2600" dirty="0"/>
          </a:p>
        </p:txBody>
      </p:sp>
      <p:sp>
        <p:nvSpPr>
          <p:cNvPr id="13" name="Result label 2"/>
          <p:cNvSpPr txBox="1"/>
          <p:nvPr/>
        </p:nvSpPr>
        <p:spPr>
          <a:xfrm>
            <a:off x="6355080" y="2953512"/>
            <a:ext cx="2240280" cy="457200"/>
          </a:xfrm>
          <a:prstGeom prst="rect">
            <a:avLst/>
          </a:prstGeom>
          <a:noFill/>
          <a:ln/>
        </p:spPr>
        <p:txBody>
          <a:bodyPr wrap="square" lIns="0" tIns="0" rIns="0" bIns="0" rtlCol="0" anchor="t"/>
          <a:lstStyle/>
          <a:p>
            <a:pPr indent="0" marL="0">
              <a:buNone/>
            </a:pPr>
            <a:r>
              <a:rPr lang="en-US" sz="1200" dirty="0">
                <a:solidFill>
                  <a:schemeClr val="tx1"/>
                </a:solidFill>
              </a:rPr>
              <a:t>MAE vs persistence at 60 min (4.01 vs 5.37)</a:t>
            </a:r>
            <a:endParaRPr lang="en-US" sz="1200" dirty="0"/>
          </a:p>
        </p:txBody>
      </p:sp>
      <p:sp>
        <p:nvSpPr>
          <p:cNvPr id="14" name="Result card 3"/>
          <p:cNvSpPr/>
          <p:nvPr/>
        </p:nvSpPr>
        <p:spPr>
          <a:xfrm>
            <a:off x="6217920" y="3557016"/>
            <a:ext cx="2468880" cy="1005840"/>
          </a:xfrm>
          <a:prstGeom prst="roundRect">
            <a:avLst>
              <a:gd name="adj" fmla="val 7273"/>
            </a:avLst>
          </a:prstGeom>
          <a:solidFill>
            <a:schemeClr val="bg2"/>
          </a:solidFill>
          <a:ln w="12700">
            <a:solidFill>
              <a:schemeClr val="bg2"/>
            </a:solidFill>
            <a:prstDash val="solid"/>
          </a:ln>
        </p:spPr>
      </p:sp>
      <p:sp>
        <p:nvSpPr>
          <p:cNvPr id="15" name="Result number 3"/>
          <p:cNvSpPr txBox="1"/>
          <p:nvPr/>
        </p:nvSpPr>
        <p:spPr>
          <a:xfrm>
            <a:off x="6355080" y="3630168"/>
            <a:ext cx="2240280" cy="41148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2.97</a:t>
            </a:r>
            <a:endParaRPr lang="en-US" sz="2600" dirty="0"/>
          </a:p>
        </p:txBody>
      </p:sp>
      <p:sp>
        <p:nvSpPr>
          <p:cNvPr id="16" name="Result label 3"/>
          <p:cNvSpPr txBox="1"/>
          <p:nvPr/>
        </p:nvSpPr>
        <p:spPr>
          <a:xfrm>
            <a:off x="6355080" y="4069080"/>
            <a:ext cx="2240280" cy="457200"/>
          </a:xfrm>
          <a:prstGeom prst="rect">
            <a:avLst/>
          </a:prstGeom>
          <a:noFill/>
          <a:ln/>
        </p:spPr>
        <p:txBody>
          <a:bodyPr wrap="square" lIns="0" tIns="0" rIns="0" bIns="0" rtlCol="0" anchor="t"/>
          <a:lstStyle/>
          <a:p>
            <a:pPr indent="0" marL="0">
              <a:buNone/>
            </a:pPr>
            <a:r>
              <a:rPr lang="en-US" sz="1200" dirty="0">
                <a:solidFill>
                  <a:schemeClr val="tx1"/>
                </a:solidFill>
              </a:rPr>
              <a:t>LSTM is best at 15 min but falls behind from 30 min on</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All scores on the test block</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The last 24 days of data, never used for tuning</a:t>
            </a:r>
            <a:endParaRPr lang="en-US" sz="1600" dirty="0"/>
          </a:p>
        </p:txBody>
      </p:sp>
      <p:graphicFrame>
        <p:nvGraphicFramePr>
          <p:cNvPr id="8" name="Scores table"/>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600200"/>
                <a:gridCol w="630936"/>
                <a:gridCol w="630936"/>
                <a:gridCol w="630936"/>
                <a:gridCol w="630936"/>
                <a:gridCol w="630936"/>
                <a:gridCol w="630936"/>
                <a:gridCol w="630936"/>
                <a:gridCol w="630936"/>
                <a:gridCol w="630936"/>
                <a:gridCol w="658368"/>
              </a:tblGrid>
              <a:tr h="329184">
                <a:tc>
                  <a:txBody>
                    <a:bodyPr/>
                    <a:lstStyle/>
                    <a:p>
                      <a:pPr algn="l" indent="0" marL="0">
                        <a:buNone/>
                      </a:pPr>
                      <a:endParaRPr lang="en-US" sz="12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730"/>
                    </a:solidFill>
                  </a:tcPr>
                </a:tc>
                <a:tc gridSpan="3">
                  <a:txBody>
                    <a:bodyPr/>
                    <a:lstStyle/>
                    <a:p>
                      <a:pPr algn="ctr" indent="0" marL="0">
                        <a:buNone/>
                      </a:pPr>
                      <a:r>
                        <a:rPr lang="en-US" sz="1200" b="1" dirty="0">
                          <a:solidFill>
                            <a:srgbClr val="FFFFFF"/>
                          </a:solidFill>
                        </a:rPr>
                        <a:t>MAE (mph)</a:t>
                      </a:r>
                      <a:endParaRPr lang="en-US" sz="12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730"/>
                    </a:solidFill>
                  </a:tcPr>
                </a:tc>
                <a:tc hMerge="1">
                  <a:tcPr/>
                </a:tc>
                <a:tc hMerge="1">
                  <a:tcPr/>
                </a:tc>
                <a:tc gridSpan="3">
                  <a:txBody>
                    <a:bodyPr/>
                    <a:lstStyle/>
                    <a:p>
                      <a:pPr algn="ctr" indent="0" marL="0">
                        <a:buNone/>
                      </a:pPr>
                      <a:r>
                        <a:rPr lang="en-US" sz="1200" b="1" dirty="0">
                          <a:solidFill>
                            <a:srgbClr val="FFFFFF"/>
                          </a:solidFill>
                        </a:rPr>
                        <a:t>RMSE (mph)</a:t>
                      </a:r>
                      <a:endParaRPr lang="en-US" sz="12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730"/>
                    </a:solidFill>
                  </a:tcPr>
                </a:tc>
                <a:tc hMerge="1">
                  <a:tcPr/>
                </a:tc>
                <a:tc hMerge="1">
                  <a:tcPr/>
                </a:tc>
                <a:tc gridSpan="3">
                  <a:txBody>
                    <a:bodyPr/>
                    <a:lstStyle/>
                    <a:p>
                      <a:pPr algn="ctr" indent="0" marL="0">
                        <a:buNone/>
                      </a:pPr>
                      <a:r>
                        <a:rPr lang="en-US" sz="1200" b="1" dirty="0">
                          <a:solidFill>
                            <a:srgbClr val="FFFFFF"/>
                          </a:solidFill>
                        </a:rPr>
                        <a:t>MAPE (%)</a:t>
                      </a:r>
                      <a:endParaRPr lang="en-US" sz="12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730"/>
                    </a:solidFill>
                  </a:tcPr>
                </a:tc>
                <a:tc hMerge="1">
                  <a:tcPr/>
                </a:tc>
                <a:tc hMerge="1">
                  <a:tcPr/>
                </a:tc>
                <a:tc>
                  <a:txBody>
                    <a:bodyPr/>
                    <a:lstStyle/>
                    <a:p>
                      <a:pPr algn="ctr" indent="0" marL="0">
                        <a:buNone/>
                      </a:pPr>
                      <a:r>
                        <a:rPr lang="en-US" sz="1200" b="1" dirty="0">
                          <a:solidFill>
                            <a:srgbClr val="FFFFFF"/>
                          </a:solidFill>
                        </a:rPr>
                        <a:t>Val MAE</a:t>
                      </a:r>
                      <a:endParaRPr lang="en-US" sz="12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730"/>
                    </a:solidFill>
                  </a:tcPr>
                </a:tc>
              </a:tr>
              <a:tr h="310896">
                <a:tc>
                  <a:txBody>
                    <a:bodyPr/>
                    <a:lstStyle/>
                    <a:p>
                      <a:pPr algn="l" indent="0" marL="0">
                        <a:buNone/>
                      </a:pPr>
                      <a:r>
                        <a:rPr lang="en-US" sz="1200" b="1" dirty="0">
                          <a:solidFill>
                            <a:srgbClr val="FFFFFF"/>
                          </a:solidFill>
                        </a:rPr>
                        <a:t>Model</a:t>
                      </a:r>
                      <a:endParaRPr lang="en-US" sz="12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15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30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60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15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30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60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15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30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60 min</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rPr>
                        <a:t>avg</a:t>
                      </a:r>
                      <a:endParaRPr lang="en-US" sz="11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E3A5F"/>
                    </a:solidFill>
                  </a:tcPr>
                </a:tc>
              </a:tr>
              <a:tr h="347472">
                <a:tc>
                  <a:txBody>
                    <a:bodyPr/>
                    <a:lstStyle/>
                    <a:p>
                      <a:pPr algn="l" indent="0" marL="0">
                        <a:buNone/>
                      </a:pPr>
                      <a:r>
                        <a:rPr lang="en-US" sz="1300" b="1" dirty="0">
                          <a:solidFill>
                            <a:srgbClr val="0B1730"/>
                          </a:solidFill>
                        </a:rPr>
                        <a:t>Persistence</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3.49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4.20</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5.37</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6.39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8.01</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10.29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8.6</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10.8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14.5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3.85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47472">
                <a:tc>
                  <a:txBody>
                    <a:bodyPr/>
                    <a:lstStyle/>
                    <a:p>
                      <a:pPr algn="l" indent="0" marL="0">
                        <a:buNone/>
                      </a:pPr>
                      <a:r>
                        <a:rPr lang="en-US" sz="1300" b="1" dirty="0">
                          <a:solidFill>
                            <a:srgbClr val="0B1730"/>
                          </a:solidFill>
                        </a:rPr>
                        <a:t>Historical avg</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4.42</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4.42</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4.42</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8.08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8.08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8.08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13.9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13.9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13.9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4.74</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r>
              <a:tr h="347472">
                <a:tc>
                  <a:txBody>
                    <a:bodyPr/>
                    <a:lstStyle/>
                    <a:p>
                      <a:pPr algn="l" indent="0" marL="0">
                        <a:buNone/>
                      </a:pPr>
                      <a:r>
                        <a:rPr lang="en-US" sz="1300" b="1" dirty="0">
                          <a:solidFill>
                            <a:srgbClr val="0B1730"/>
                          </a:solidFill>
                        </a:rPr>
                        <a:t>Ridge per sensor</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3.31</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4.08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5.17</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5.88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7.19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8.67</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8.9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11.7</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15.5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3.86</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47472">
                <a:tc>
                  <a:txBody>
                    <a:bodyPr/>
                    <a:lstStyle/>
                    <a:p>
                      <a:pPr algn="l" indent="0" marL="0">
                        <a:buNone/>
                      </a:pPr>
                      <a:r>
                        <a:rPr lang="en-US" sz="1300" b="1" dirty="0">
                          <a:solidFill>
                            <a:srgbClr val="0B1730"/>
                          </a:solidFill>
                        </a:rPr>
                        <a:t>Random Forest</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3.08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3.68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4.45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5.62</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6.71</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7.85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8.3</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10.6</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13.5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300" dirty="0">
                          <a:solidFill>
                            <a:srgbClr val="0B1730"/>
                          </a:solidFill>
                        </a:rPr>
                        <a:t>3.39</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9"/>
                    </a:solidFill>
                  </a:tcPr>
                </a:tc>
              </a:tr>
              <a:tr h="347472">
                <a:tc>
                  <a:txBody>
                    <a:bodyPr/>
                    <a:lstStyle/>
                    <a:p>
                      <a:pPr algn="l" indent="0" marL="0">
                        <a:buNone/>
                      </a:pPr>
                      <a:r>
                        <a:rPr lang="en-US" sz="1300" b="1" dirty="0">
                          <a:solidFill>
                            <a:srgbClr val="0B1730"/>
                          </a:solidFill>
                        </a:rPr>
                        <a:t>LSTM (no graph)</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7A52"/>
                          </a:solidFill>
                        </a:rPr>
                        <a:t>2.97</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3.55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4.35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5.84</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7.20</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8.84</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7A52"/>
                          </a:solidFill>
                        </a:rPr>
                        <a:t>8.0</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10.3</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730"/>
                          </a:solidFill>
                        </a:rPr>
                        <a:t>13.5</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7A52"/>
                          </a:solidFill>
                        </a:rPr>
                        <a:t>3.21</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47472">
                <a:tc>
                  <a:txBody>
                    <a:bodyPr/>
                    <a:lstStyle/>
                    <a:p>
                      <a:pPr algn="l" indent="0" marL="0">
                        <a:buNone/>
                      </a:pPr>
                      <a:r>
                        <a:rPr lang="en-US" sz="1300" b="1" dirty="0">
                          <a:solidFill>
                            <a:srgbClr val="0B1730"/>
                          </a:solidFill>
                        </a:rPr>
                        <a:t>XGBoost</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dirty="0">
                          <a:solidFill>
                            <a:srgbClr val="0B1730"/>
                          </a:solidFill>
                        </a:rPr>
                        <a:t>3.02</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b="1" dirty="0">
                          <a:solidFill>
                            <a:srgbClr val="0B7A52"/>
                          </a:solidFill>
                        </a:rPr>
                        <a:t>3.51</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b="1" dirty="0">
                          <a:solidFill>
                            <a:srgbClr val="0B7A52"/>
                          </a:solidFill>
                        </a:rPr>
                        <a:t>4.01</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b="1" dirty="0">
                          <a:solidFill>
                            <a:srgbClr val="0B7A52"/>
                          </a:solidFill>
                        </a:rPr>
                        <a:t>5.47</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b="1" dirty="0">
                          <a:solidFill>
                            <a:srgbClr val="0B7A52"/>
                          </a:solidFill>
                        </a:rPr>
                        <a:t>6.41</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b="1" dirty="0">
                          <a:solidFill>
                            <a:srgbClr val="0B7A52"/>
                          </a:solidFill>
                        </a:rPr>
                        <a:t>7.28</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dirty="0">
                          <a:solidFill>
                            <a:srgbClr val="0B1730"/>
                          </a:solidFill>
                        </a:rPr>
                        <a:t>8.2</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b="1" dirty="0">
                          <a:solidFill>
                            <a:srgbClr val="0B7A52"/>
                          </a:solidFill>
                        </a:rPr>
                        <a:t>10.1</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b="1" dirty="0">
                          <a:solidFill>
                            <a:srgbClr val="0B7A52"/>
                          </a:solidFill>
                        </a:rPr>
                        <a:t>12.0</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c>
                  <a:txBody>
                    <a:bodyPr/>
                    <a:lstStyle/>
                    <a:p>
                      <a:pPr algn="ctr" indent="0" marL="0">
                        <a:buNone/>
                      </a:pPr>
                      <a:r>
                        <a:rPr lang="en-US" sz="1300" dirty="0">
                          <a:solidFill>
                            <a:srgbClr val="0B1730"/>
                          </a:solidFill>
                        </a:rPr>
                        <a:t>3.23</a:t>
                      </a:r>
                      <a:endParaRPr lang="en-US" sz="1300" dirty="0"/>
                    </a:p>
                  </a:txBody>
                  <a:tcPr marL="45720" marR="45720" marT="0" marB="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CEBFB"/>
                    </a:solidFill>
                  </a:tcPr>
                </a:tc>
              </a:tr>
            </a:tbl>
          </a:graphicData>
        </a:graphic>
      </p:graphicFrame>
      <p:sp>
        <p:nvSpPr>
          <p:cNvPr id="8" name="Table note"/>
          <p:cNvSpPr txBox="1"/>
          <p:nvPr/>
        </p:nvSpPr>
        <p:spPr>
          <a:xfrm>
            <a:off x="457200" y="4224528"/>
            <a:ext cx="8229600" cy="457200"/>
          </a:xfrm>
          <a:prstGeom prst="rect">
            <a:avLst/>
          </a:prstGeom>
          <a:noFill/>
          <a:ln/>
        </p:spPr>
        <p:txBody>
          <a:bodyPr wrap="square" lIns="0" tIns="0" rIns="0" bIns="0" rtlCol="0" anchor="t"/>
          <a:lstStyle/>
          <a:p>
            <a:pPr indent="0" marL="0">
              <a:buNone/>
            </a:pPr>
            <a:r>
              <a:rPr lang="en-US" sz="1200" dirty="0">
                <a:solidFill>
                  <a:schemeClr val="accent6"/>
                </a:solidFill>
              </a:rPr>
              <a:t>Green bold = best in column. 15, 30, 60 are forecast horizons in minutes. Val MAE is the validation score pooled over all 12 horizons, used only to choose settings. XGBoost also has the best pooled test MAE (3.44).</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Rush hour is the hard part</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Test MAE (mph) for 30-minute forecasts, by time of day</a:t>
            </a:r>
            <a:endParaRPr lang="en-US" sz="1600" dirty="0"/>
          </a:p>
        </p:txBody>
      </p:sp>
      <p:graphicFrame>
        <p:nvGraphicFramePr>
          <p:cNvPr id="7" name="Peak vs off-peak chart" descr=""/>
          <p:cNvGraphicFramePr/>
          <p:nvPr/>
        </p:nvGraphicFramePr>
        <p:xfrm>
          <a:off x="365760" y="1280160"/>
          <a:ext cx="5669280" cy="3200400"/>
        </p:xfrm>
        <a:graphic xmlns:a="http://schemas.openxmlformats.org/drawingml/2006/main">
          <a:graphicData uri="http://schemas.openxmlformats.org/drawingml/2006/chart">
            <c:chart xmlns:c="http://schemas.openxmlformats.org/drawingml/2006/chart" r:id="rId1"/>
          </a:graphicData>
        </a:graphic>
      </p:graphicFrame>
      <p:sp>
        <p:nvSpPr>
          <p:cNvPr id="8" name="Peak card 1"/>
          <p:cNvSpPr/>
          <p:nvPr/>
        </p:nvSpPr>
        <p:spPr>
          <a:xfrm>
            <a:off x="6217920" y="1325880"/>
            <a:ext cx="2468880" cy="1005840"/>
          </a:xfrm>
          <a:prstGeom prst="roundRect">
            <a:avLst>
              <a:gd name="adj" fmla="val 7273"/>
            </a:avLst>
          </a:prstGeom>
          <a:solidFill>
            <a:schemeClr val="bg2"/>
          </a:solidFill>
          <a:ln w="12700">
            <a:solidFill>
              <a:schemeClr val="bg2"/>
            </a:solidFill>
            <a:prstDash val="solid"/>
          </a:ln>
        </p:spPr>
      </p:sp>
      <p:sp>
        <p:nvSpPr>
          <p:cNvPr id="9" name="Peak number 1"/>
          <p:cNvSpPr txBox="1"/>
          <p:nvPr/>
        </p:nvSpPr>
        <p:spPr>
          <a:xfrm>
            <a:off x="6355080" y="1399032"/>
            <a:ext cx="2240280" cy="411480"/>
          </a:xfrm>
          <a:prstGeom prst="rect">
            <a:avLst/>
          </a:prstGeom>
          <a:noFill/>
          <a:ln/>
        </p:spPr>
        <p:txBody>
          <a:bodyPr wrap="square" lIns="0" tIns="0" rIns="0" bIns="0" rtlCol="0" anchor="ctr"/>
          <a:lstStyle/>
          <a:p>
            <a:pPr indent="0" marL="0">
              <a:buNone/>
            </a:pPr>
            <a:r>
              <a:rPr lang="en-US" sz="2200" b="1" dirty="0">
                <a:solidFill>
                  <a:schemeClr val="accent2"/>
                </a:solidFill>
                <a:latin typeface="+mj-lt" pitchFamily="34" charset="0"/>
                <a:ea typeface="+mj-lt" pitchFamily="34" charset="-122"/>
                <a:cs typeface="+mj-lt" pitchFamily="34" charset="-120"/>
              </a:rPr>
              <a:t>1.4 to 1.95x</a:t>
            </a:r>
            <a:endParaRPr lang="en-US" sz="2200" dirty="0"/>
          </a:p>
        </p:txBody>
      </p:sp>
      <p:sp>
        <p:nvSpPr>
          <p:cNvPr id="10" name="Peak label 1"/>
          <p:cNvSpPr txBox="1"/>
          <p:nvPr/>
        </p:nvSpPr>
        <p:spPr>
          <a:xfrm>
            <a:off x="6355080" y="1837944"/>
            <a:ext cx="2240280" cy="457200"/>
          </a:xfrm>
          <a:prstGeom prst="rect">
            <a:avLst/>
          </a:prstGeom>
          <a:noFill/>
          <a:ln/>
        </p:spPr>
        <p:txBody>
          <a:bodyPr wrap="square" lIns="0" tIns="0" rIns="0" bIns="0" rtlCol="0" anchor="t"/>
          <a:lstStyle/>
          <a:p>
            <a:pPr indent="0" marL="0">
              <a:buNone/>
            </a:pPr>
            <a:r>
              <a:rPr lang="en-US" sz="1200" dirty="0">
                <a:solidFill>
                  <a:schemeClr val="tx1"/>
                </a:solidFill>
              </a:rPr>
              <a:t>peak error vs off-peak, for every model and horizon</a:t>
            </a:r>
            <a:endParaRPr lang="en-US" sz="1200" dirty="0"/>
          </a:p>
        </p:txBody>
      </p:sp>
      <p:sp>
        <p:nvSpPr>
          <p:cNvPr id="11" name="Peak card 2"/>
          <p:cNvSpPr/>
          <p:nvPr/>
        </p:nvSpPr>
        <p:spPr>
          <a:xfrm>
            <a:off x="6217920" y="2441448"/>
            <a:ext cx="2468880" cy="1005840"/>
          </a:xfrm>
          <a:prstGeom prst="roundRect">
            <a:avLst>
              <a:gd name="adj" fmla="val 7273"/>
            </a:avLst>
          </a:prstGeom>
          <a:solidFill>
            <a:schemeClr val="bg2"/>
          </a:solidFill>
          <a:ln w="12700">
            <a:solidFill>
              <a:schemeClr val="bg2"/>
            </a:solidFill>
            <a:prstDash val="solid"/>
          </a:ln>
        </p:spPr>
      </p:sp>
      <p:sp>
        <p:nvSpPr>
          <p:cNvPr id="12" name="Peak number 2"/>
          <p:cNvSpPr txBox="1"/>
          <p:nvPr/>
        </p:nvSpPr>
        <p:spPr>
          <a:xfrm>
            <a:off x="6355080" y="2514600"/>
            <a:ext cx="2240280" cy="41148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4.22 to 6.23</a:t>
            </a:r>
            <a:endParaRPr lang="en-US" sz="2200" dirty="0"/>
          </a:p>
        </p:txBody>
      </p:sp>
      <p:sp>
        <p:nvSpPr>
          <p:cNvPr id="13" name="Peak label 2"/>
          <p:cNvSpPr txBox="1"/>
          <p:nvPr/>
        </p:nvSpPr>
        <p:spPr>
          <a:xfrm>
            <a:off x="6355080" y="2953512"/>
            <a:ext cx="2240280" cy="457200"/>
          </a:xfrm>
          <a:prstGeom prst="rect">
            <a:avLst/>
          </a:prstGeom>
          <a:noFill/>
          <a:ln/>
        </p:spPr>
        <p:txBody>
          <a:bodyPr wrap="square" lIns="0" tIns="0" rIns="0" bIns="0" rtlCol="0" anchor="t"/>
          <a:lstStyle/>
          <a:p>
            <a:pPr indent="0" marL="0">
              <a:buNone/>
            </a:pPr>
            <a:r>
              <a:rPr lang="en-US" sz="1200" dirty="0">
                <a:solidFill>
                  <a:schemeClr val="tx1"/>
                </a:solidFill>
              </a:rPr>
              <a:t>XGBoost peak MAE (mph), 15 to 60 min</a:t>
            </a:r>
            <a:endParaRPr lang="en-US" sz="1200" dirty="0"/>
          </a:p>
        </p:txBody>
      </p:sp>
      <p:sp>
        <p:nvSpPr>
          <p:cNvPr id="14" name="Peak card 3"/>
          <p:cNvSpPr/>
          <p:nvPr/>
        </p:nvSpPr>
        <p:spPr>
          <a:xfrm>
            <a:off x="6217920" y="3557016"/>
            <a:ext cx="2468880" cy="1005840"/>
          </a:xfrm>
          <a:prstGeom prst="roundRect">
            <a:avLst>
              <a:gd name="adj" fmla="val 7273"/>
            </a:avLst>
          </a:prstGeom>
          <a:solidFill>
            <a:schemeClr val="bg2"/>
          </a:solidFill>
          <a:ln w="12700">
            <a:solidFill>
              <a:schemeClr val="bg2"/>
            </a:solidFill>
            <a:prstDash val="solid"/>
          </a:ln>
        </p:spPr>
      </p:sp>
      <p:sp>
        <p:nvSpPr>
          <p:cNvPr id="15" name="Peak number 3"/>
          <p:cNvSpPr txBox="1"/>
          <p:nvPr/>
        </p:nvSpPr>
        <p:spPr>
          <a:xfrm>
            <a:off x="6355080" y="3630168"/>
            <a:ext cx="2240280" cy="411480"/>
          </a:xfrm>
          <a:prstGeom prst="rect">
            <a:avLst/>
          </a:prstGeom>
          <a:noFill/>
          <a:ln/>
        </p:spPr>
        <p:txBody>
          <a:bodyPr wrap="square" lIns="0" tIns="0" rIns="0" bIns="0" rtlCol="0" anchor="ctr"/>
          <a:lstStyle/>
          <a:p>
            <a:pPr indent="0" marL="0">
              <a:buNone/>
            </a:pPr>
            <a:r>
              <a:rPr lang="en-US" sz="2200" b="1" dirty="0">
                <a:solidFill>
                  <a:schemeClr val="accent3"/>
                </a:solidFill>
                <a:latin typeface="+mj-lt" pitchFamily="34" charset="0"/>
                <a:ea typeface="+mj-lt" pitchFamily="34" charset="-122"/>
                <a:cs typeface="+mj-lt" pitchFamily="34" charset="-120"/>
              </a:rPr>
              <a:t>2.69 to 3.32</a:t>
            </a:r>
            <a:endParaRPr lang="en-US" sz="2200" dirty="0"/>
          </a:p>
        </p:txBody>
      </p:sp>
      <p:sp>
        <p:nvSpPr>
          <p:cNvPr id="16" name="Peak label 3"/>
          <p:cNvSpPr txBox="1"/>
          <p:nvPr/>
        </p:nvSpPr>
        <p:spPr>
          <a:xfrm>
            <a:off x="6355080" y="4069080"/>
            <a:ext cx="2240280" cy="457200"/>
          </a:xfrm>
          <a:prstGeom prst="rect">
            <a:avLst/>
          </a:prstGeom>
          <a:noFill/>
          <a:ln/>
        </p:spPr>
        <p:txBody>
          <a:bodyPr wrap="square" lIns="0" tIns="0" rIns="0" bIns="0" rtlCol="0" anchor="t"/>
          <a:lstStyle/>
          <a:p>
            <a:pPr indent="0" marL="0">
              <a:buNone/>
            </a:pPr>
            <a:r>
              <a:rPr lang="en-US" sz="1200" dirty="0">
                <a:solidFill>
                  <a:schemeClr val="tx1"/>
                </a:solidFill>
              </a:rPr>
              <a:t>XGBoost off-peak MAE (mph), 15 to 60 min</a:t>
            </a:r>
            <a:endParaRPr lang="en-US" sz="1200" dirty="0"/>
          </a:p>
        </p:txBody>
      </p:sp>
      <p:sp>
        <p:nvSpPr>
          <p:cNvPr id="17" name="Peak definition"/>
          <p:cNvSpPr txBox="1"/>
          <p:nvPr/>
        </p:nvSpPr>
        <p:spPr>
          <a:xfrm>
            <a:off x="457200" y="4526280"/>
            <a:ext cx="5486400" cy="182880"/>
          </a:xfrm>
          <a:prstGeom prst="rect">
            <a:avLst/>
          </a:prstGeom>
          <a:noFill/>
          <a:ln/>
        </p:spPr>
        <p:txBody>
          <a:bodyPr wrap="square" lIns="0" tIns="0" rIns="0" bIns="0" rtlCol="0" anchor="t"/>
          <a:lstStyle/>
          <a:p>
            <a:pPr indent="0" marL="0">
              <a:buNone/>
            </a:pPr>
            <a:r>
              <a:rPr lang="en-US" sz="1000" dirty="0">
                <a:solidFill>
                  <a:schemeClr val="accent6"/>
                </a:solidFill>
              </a:rPr>
              <a:t>Peak = weekdays 07:00 to 09:59 and 16:00 to 19:59, judged on the predicted timestamp.</a:t>
            </a:r>
            <a:endParaRPr lang="en-US" sz="10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The gap, measured</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Where an independent per-sensor model fails (XGBoost, test block)</a:t>
            </a:r>
            <a:endParaRPr lang="en-US" sz="1600" dirty="0"/>
          </a:p>
        </p:txBody>
      </p:sp>
      <p:graphicFrame>
        <p:nvGraphicFramePr>
          <p:cNvPr id="7" name="Onset error chart" descr=""/>
          <p:cNvGraphicFramePr/>
          <p:nvPr/>
        </p:nvGraphicFramePr>
        <p:xfrm>
          <a:off x="365760" y="128016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8" name="Gap card 1"/>
          <p:cNvSpPr/>
          <p:nvPr/>
        </p:nvSpPr>
        <p:spPr>
          <a:xfrm>
            <a:off x="5669280" y="1325880"/>
            <a:ext cx="3017520" cy="1005840"/>
          </a:xfrm>
          <a:prstGeom prst="roundRect">
            <a:avLst>
              <a:gd name="adj" fmla="val 7273"/>
            </a:avLst>
          </a:prstGeom>
          <a:solidFill>
            <a:schemeClr val="bg2"/>
          </a:solidFill>
          <a:ln w="12700">
            <a:solidFill>
              <a:schemeClr val="bg2"/>
            </a:solidFill>
            <a:prstDash val="solid"/>
          </a:ln>
        </p:spPr>
      </p:sp>
      <p:sp>
        <p:nvSpPr>
          <p:cNvPr id="9" name="Gap number 1"/>
          <p:cNvSpPr txBox="1"/>
          <p:nvPr/>
        </p:nvSpPr>
        <p:spPr>
          <a:xfrm>
            <a:off x="5806440" y="1389888"/>
            <a:ext cx="2743200" cy="384048"/>
          </a:xfrm>
          <a:prstGeom prst="rect">
            <a:avLst/>
          </a:prstGeom>
          <a:noFill/>
          <a:ln/>
        </p:spPr>
        <p:txBody>
          <a:bodyPr wrap="square" lIns="0" tIns="0" rIns="0" bIns="0" rtlCol="0" anchor="ctr"/>
          <a:lstStyle/>
          <a:p>
            <a:pPr indent="0" marL="0">
              <a:buNone/>
            </a:pPr>
            <a:r>
              <a:rPr lang="en-US" sz="2200" b="1" dirty="0">
                <a:solidFill>
                  <a:schemeClr val="accent5"/>
                </a:solidFill>
                <a:latin typeface="+mj-lt" pitchFamily="34" charset="0"/>
                <a:ea typeface="+mj-lt" pitchFamily="34" charset="-122"/>
                <a:cs typeface="+mj-lt" pitchFamily="34" charset="-120"/>
              </a:rPr>
              <a:t>5 to 6x</a:t>
            </a:r>
            <a:endParaRPr lang="en-US" sz="2200" dirty="0"/>
          </a:p>
        </p:txBody>
      </p:sp>
      <p:sp>
        <p:nvSpPr>
          <p:cNvPr id="10" name="Gap label 1"/>
          <p:cNvSpPr txBox="1"/>
          <p:nvPr/>
        </p:nvSpPr>
        <p:spPr>
          <a:xfrm>
            <a:off x="5806440" y="1801368"/>
            <a:ext cx="2743200" cy="512064"/>
          </a:xfrm>
          <a:prstGeom prst="rect">
            <a:avLst/>
          </a:prstGeom>
          <a:noFill/>
          <a:ln/>
        </p:spPr>
        <p:txBody>
          <a:bodyPr wrap="square" lIns="0" tIns="0" rIns="0" bIns="0" rtlCol="0" anchor="t"/>
          <a:lstStyle/>
          <a:p>
            <a:pPr indent="0" marL="0">
              <a:buNone/>
            </a:pPr>
            <a:r>
              <a:rPr lang="en-US" sz="1200" dirty="0">
                <a:solidFill>
                  <a:schemeClr val="tx1"/>
                </a:solidFill>
              </a:rPr>
              <a:t>higher error right after a congestion onset: 16.2 vs 2.7 mph at 15 min (3,911 onsets)</a:t>
            </a:r>
            <a:endParaRPr lang="en-US" sz="1200" dirty="0"/>
          </a:p>
        </p:txBody>
      </p:sp>
      <p:sp>
        <p:nvSpPr>
          <p:cNvPr id="11" name="Gap card 2"/>
          <p:cNvSpPr/>
          <p:nvPr/>
        </p:nvSpPr>
        <p:spPr>
          <a:xfrm>
            <a:off x="5669280" y="2441448"/>
            <a:ext cx="3017520" cy="1005840"/>
          </a:xfrm>
          <a:prstGeom prst="roundRect">
            <a:avLst>
              <a:gd name="adj" fmla="val 7273"/>
            </a:avLst>
          </a:prstGeom>
          <a:solidFill>
            <a:schemeClr val="bg2"/>
          </a:solidFill>
          <a:ln w="12700">
            <a:solidFill>
              <a:schemeClr val="bg2"/>
            </a:solidFill>
            <a:prstDash val="solid"/>
          </a:ln>
        </p:spPr>
      </p:sp>
      <p:sp>
        <p:nvSpPr>
          <p:cNvPr id="12" name="Gap number 2"/>
          <p:cNvSpPr txBox="1"/>
          <p:nvPr/>
        </p:nvSpPr>
        <p:spPr>
          <a:xfrm>
            <a:off x="5806440" y="2505456"/>
            <a:ext cx="2743200" cy="384048"/>
          </a:xfrm>
          <a:prstGeom prst="rect">
            <a:avLst/>
          </a:prstGeom>
          <a:noFill/>
          <a:ln/>
        </p:spPr>
        <p:txBody>
          <a:bodyPr wrap="square" lIns="0" tIns="0" rIns="0" bIns="0" rtlCol="0" anchor="ctr"/>
          <a:lstStyle/>
          <a:p>
            <a:pPr indent="0" marL="0">
              <a:buNone/>
            </a:pPr>
            <a:r>
              <a:rPr lang="en-US" sz="2200" b="1" dirty="0">
                <a:solidFill>
                  <a:schemeClr val="accent2"/>
                </a:solidFill>
                <a:latin typeface="+mj-lt" pitchFamily="34" charset="0"/>
                <a:ea typeface="+mj-lt" pitchFamily="34" charset="-122"/>
                <a:cs typeface="+mj-lt" pitchFamily="34" charset="-120"/>
              </a:rPr>
              <a:t>0.20 vs 0.00</a:t>
            </a:r>
            <a:endParaRPr lang="en-US" sz="2200" dirty="0"/>
          </a:p>
        </p:txBody>
      </p:sp>
      <p:sp>
        <p:nvSpPr>
          <p:cNvPr id="13" name="Gap label 2"/>
          <p:cNvSpPr txBox="1"/>
          <p:nvPr/>
        </p:nvSpPr>
        <p:spPr>
          <a:xfrm>
            <a:off x="5806440" y="2916936"/>
            <a:ext cx="2743200" cy="512064"/>
          </a:xfrm>
          <a:prstGeom prst="rect">
            <a:avLst/>
          </a:prstGeom>
          <a:noFill/>
          <a:ln/>
        </p:spPr>
        <p:txBody>
          <a:bodyPr wrap="square" lIns="0" tIns="0" rIns="0" bIns="0" rtlCol="0" anchor="t"/>
          <a:lstStyle/>
          <a:p>
            <a:pPr indent="0" marL="0">
              <a:buNone/>
            </a:pPr>
            <a:r>
              <a:rPr lang="en-US" sz="1200" dirty="0">
                <a:solidFill>
                  <a:schemeClr val="tx1"/>
                </a:solidFill>
              </a:rPr>
              <a:t>error correlation of linked vs unconnected sensors at 60 min</a:t>
            </a:r>
            <a:endParaRPr lang="en-US" sz="1200" dirty="0"/>
          </a:p>
        </p:txBody>
      </p:sp>
      <p:sp>
        <p:nvSpPr>
          <p:cNvPr id="14" name="Gap card 3"/>
          <p:cNvSpPr/>
          <p:nvPr/>
        </p:nvSpPr>
        <p:spPr>
          <a:xfrm>
            <a:off x="5669280" y="3557016"/>
            <a:ext cx="3017520" cy="1005840"/>
          </a:xfrm>
          <a:prstGeom prst="roundRect">
            <a:avLst>
              <a:gd name="adj" fmla="val 7273"/>
            </a:avLst>
          </a:prstGeom>
          <a:solidFill>
            <a:schemeClr val="bg2"/>
          </a:solidFill>
          <a:ln w="12700">
            <a:solidFill>
              <a:schemeClr val="bg2"/>
            </a:solidFill>
            <a:prstDash val="solid"/>
          </a:ln>
        </p:spPr>
      </p:sp>
      <p:sp>
        <p:nvSpPr>
          <p:cNvPr id="15" name="Gap number 3"/>
          <p:cNvSpPr txBox="1"/>
          <p:nvPr/>
        </p:nvSpPr>
        <p:spPr>
          <a:xfrm>
            <a:off x="5806440" y="3621024"/>
            <a:ext cx="2743200" cy="384048"/>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3.02 to 4.01</a:t>
            </a:r>
            <a:endParaRPr lang="en-US" sz="2200" dirty="0"/>
          </a:p>
        </p:txBody>
      </p:sp>
      <p:sp>
        <p:nvSpPr>
          <p:cNvPr id="16" name="Gap label 3"/>
          <p:cNvSpPr txBox="1"/>
          <p:nvPr/>
        </p:nvSpPr>
        <p:spPr>
          <a:xfrm>
            <a:off x="5806440" y="4032504"/>
            <a:ext cx="2743200" cy="512064"/>
          </a:xfrm>
          <a:prstGeom prst="rect">
            <a:avLst/>
          </a:prstGeom>
          <a:noFill/>
          <a:ln/>
        </p:spPr>
        <p:txBody>
          <a:bodyPr wrap="square" lIns="0" tIns="0" rIns="0" bIns="0" rtlCol="0" anchor="t"/>
          <a:lstStyle/>
          <a:p>
            <a:pPr indent="0" marL="0">
              <a:buNone/>
            </a:pPr>
            <a:r>
              <a:rPr lang="en-US" sz="1200" dirty="0">
                <a:solidFill>
                  <a:schemeClr val="tx1"/>
                </a:solidFill>
              </a:rPr>
              <a:t>XGBoost MAE (mph) rises from 15 to 60 min</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Neighbour speeds close part of the gap</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accent6"/>
                </a:solidFill>
              </a:rPr>
              <a:t>XGBoost with hand-made upstream and downstream features, test MAE (mph)</a:t>
            </a:r>
            <a:endParaRPr lang="en-US" sz="1600" dirty="0"/>
          </a:p>
        </p:txBody>
      </p:sp>
      <p:graphicFrame>
        <p:nvGraphicFramePr>
          <p:cNvPr id="7" name="Neighbour experiment chart" descr=""/>
          <p:cNvGraphicFramePr/>
          <p:nvPr/>
        </p:nvGraphicFramePr>
        <p:xfrm>
          <a:off x="365760" y="1280160"/>
          <a:ext cx="5212080" cy="3383280"/>
        </p:xfrm>
        <a:graphic xmlns:a="http://schemas.openxmlformats.org/drawingml/2006/main">
          <a:graphicData uri="http://schemas.openxmlformats.org/drawingml/2006/chart">
            <c:chart xmlns:c="http://schemas.openxmlformats.org/drawingml/2006/chart" r:id="rId1"/>
          </a:graphicData>
        </a:graphic>
      </p:graphicFrame>
      <p:sp>
        <p:nvSpPr>
          <p:cNvPr id="8" name="Badge 1"/>
          <p:cNvSpPr/>
          <p:nvPr/>
        </p:nvSpPr>
        <p:spPr>
          <a:xfrm>
            <a:off x="5806440" y="1545336"/>
            <a:ext cx="310896" cy="310896"/>
          </a:xfrm>
          <a:prstGeom prst="ellipse">
            <a:avLst/>
          </a:prstGeom>
          <a:solidFill>
            <a:schemeClr val="accent1"/>
          </a:solidFill>
          <a:ln w="12700">
            <a:solidFill>
              <a:schemeClr val="accent1"/>
            </a:solidFill>
            <a:prstDash val="solid"/>
          </a:ln>
        </p:spPr>
      </p:sp>
      <p:sp>
        <p:nvSpPr>
          <p:cNvPr id="9" name="Badge text 1"/>
          <p:cNvSpPr txBox="1"/>
          <p:nvPr/>
        </p:nvSpPr>
        <p:spPr>
          <a:xfrm>
            <a:off x="5806440" y="154533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akeaway 1"/>
          <p:cNvSpPr txBox="1"/>
          <p:nvPr/>
        </p:nvSpPr>
        <p:spPr>
          <a:xfrm>
            <a:off x="6263640" y="1325880"/>
            <a:ext cx="2423160" cy="749808"/>
          </a:xfrm>
          <a:prstGeom prst="rect">
            <a:avLst/>
          </a:prstGeom>
          <a:noFill/>
          <a:ln/>
        </p:spPr>
        <p:txBody>
          <a:bodyPr wrap="square" lIns="0" tIns="0" rIns="0" bIns="0" rtlCol="0" anchor="ctr"/>
          <a:lstStyle/>
          <a:p>
            <a:pPr indent="0" marL="0">
              <a:buNone/>
            </a:pPr>
            <a:r>
              <a:rPr lang="en-US" sz="1300" dirty="0">
                <a:solidFill>
                  <a:schemeClr val="tx1"/>
                </a:solidFill>
              </a:rPr>
              <a:t>Every variant beats the independent model at every horizon.</a:t>
            </a:r>
            <a:endParaRPr lang="en-US" sz="1300" dirty="0"/>
          </a:p>
        </p:txBody>
      </p:sp>
      <p:sp>
        <p:nvSpPr>
          <p:cNvPr id="11" name="Badge 2"/>
          <p:cNvSpPr/>
          <p:nvPr/>
        </p:nvSpPr>
        <p:spPr>
          <a:xfrm>
            <a:off x="5806440" y="2368296"/>
            <a:ext cx="310896" cy="310896"/>
          </a:xfrm>
          <a:prstGeom prst="ellipse">
            <a:avLst/>
          </a:prstGeom>
          <a:solidFill>
            <a:schemeClr val="accent1"/>
          </a:solidFill>
          <a:ln w="12700">
            <a:solidFill>
              <a:schemeClr val="accent1"/>
            </a:solidFill>
            <a:prstDash val="solid"/>
          </a:ln>
        </p:spPr>
      </p:sp>
      <p:sp>
        <p:nvSpPr>
          <p:cNvPr id="12" name="Badge text 2"/>
          <p:cNvSpPr txBox="1"/>
          <p:nvPr/>
        </p:nvSpPr>
        <p:spPr>
          <a:xfrm>
            <a:off x="5806440" y="23682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akeaway 2"/>
          <p:cNvSpPr txBox="1"/>
          <p:nvPr/>
        </p:nvSpPr>
        <p:spPr>
          <a:xfrm>
            <a:off x="6263640" y="2148840"/>
            <a:ext cx="2423160" cy="749808"/>
          </a:xfrm>
          <a:prstGeom prst="rect">
            <a:avLst/>
          </a:prstGeom>
          <a:noFill/>
          <a:ln/>
        </p:spPr>
        <p:txBody>
          <a:bodyPr wrap="square" lIns="0" tIns="0" rIns="0" bIns="0" rtlCol="0" anchor="ctr"/>
          <a:lstStyle/>
          <a:p>
            <a:pPr indent="0" marL="0">
              <a:buNone/>
            </a:pPr>
            <a:r>
              <a:rPr lang="en-US" sz="1300" dirty="0">
                <a:solidFill>
                  <a:schemeClr val="tx1"/>
                </a:solidFill>
              </a:rPr>
              <a:t>Downstream helps more than upstream: jams travel backwards.</a:t>
            </a:r>
            <a:endParaRPr lang="en-US" sz="1300" dirty="0"/>
          </a:p>
        </p:txBody>
      </p:sp>
      <p:sp>
        <p:nvSpPr>
          <p:cNvPr id="14" name="Badge 3"/>
          <p:cNvSpPr/>
          <p:nvPr/>
        </p:nvSpPr>
        <p:spPr>
          <a:xfrm>
            <a:off x="5806440" y="3191256"/>
            <a:ext cx="310896" cy="310896"/>
          </a:xfrm>
          <a:prstGeom prst="ellipse">
            <a:avLst/>
          </a:prstGeom>
          <a:solidFill>
            <a:schemeClr val="accent1"/>
          </a:solidFill>
          <a:ln w="12700">
            <a:solidFill>
              <a:schemeClr val="accent1"/>
            </a:solidFill>
            <a:prstDash val="solid"/>
          </a:ln>
        </p:spPr>
      </p:sp>
      <p:sp>
        <p:nvSpPr>
          <p:cNvPr id="15" name="Badge text 3"/>
          <p:cNvSpPr txBox="1"/>
          <p:nvPr/>
        </p:nvSpPr>
        <p:spPr>
          <a:xfrm>
            <a:off x="5806440" y="319125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akeaway 3"/>
          <p:cNvSpPr txBox="1"/>
          <p:nvPr/>
        </p:nvSpPr>
        <p:spPr>
          <a:xfrm>
            <a:off x="6263640" y="2971800"/>
            <a:ext cx="2423160" cy="749808"/>
          </a:xfrm>
          <a:prstGeom prst="rect">
            <a:avLst/>
          </a:prstGeom>
          <a:noFill/>
          <a:ln/>
        </p:spPr>
        <p:txBody>
          <a:bodyPr wrap="square" lIns="0" tIns="0" rIns="0" bIns="0" rtlCol="0" anchor="ctr"/>
          <a:lstStyle/>
          <a:p>
            <a:pPr indent="0" marL="0">
              <a:buNone/>
            </a:pPr>
            <a:r>
              <a:rPr lang="en-US" sz="1300" dirty="0">
                <a:solidFill>
                  <a:schemeClr val="tx1"/>
                </a:solidFill>
              </a:rPr>
              <a:t>Both directions: -3.5%, -2.6%, -1.4% MAE, and -11% right after onsets.</a:t>
            </a:r>
            <a:endParaRPr lang="en-US" sz="1300" dirty="0"/>
          </a:p>
        </p:txBody>
      </p:sp>
      <p:sp>
        <p:nvSpPr>
          <p:cNvPr id="17" name="Badge 4"/>
          <p:cNvSpPr/>
          <p:nvPr/>
        </p:nvSpPr>
        <p:spPr>
          <a:xfrm>
            <a:off x="5806440" y="4014216"/>
            <a:ext cx="310896" cy="310896"/>
          </a:xfrm>
          <a:prstGeom prst="ellipse">
            <a:avLst/>
          </a:prstGeom>
          <a:solidFill>
            <a:schemeClr val="accent5"/>
          </a:solidFill>
          <a:ln w="12700">
            <a:solidFill>
              <a:schemeClr val="accent5"/>
            </a:solidFill>
            <a:prstDash val="solid"/>
          </a:ln>
        </p:spPr>
      </p:sp>
      <p:sp>
        <p:nvSpPr>
          <p:cNvPr id="18" name="Badge text 4"/>
          <p:cNvSpPr txBox="1"/>
          <p:nvPr/>
        </p:nvSpPr>
        <p:spPr>
          <a:xfrm>
            <a:off x="5806440" y="401421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9" name="Takeaway 4"/>
          <p:cNvSpPr txBox="1"/>
          <p:nvPr/>
        </p:nvSpPr>
        <p:spPr>
          <a:xfrm>
            <a:off x="6263640" y="3794760"/>
            <a:ext cx="2423160" cy="749808"/>
          </a:xfrm>
          <a:prstGeom prst="rect">
            <a:avLst/>
          </a:prstGeom>
          <a:noFill/>
          <a:ln/>
        </p:spPr>
        <p:txBody>
          <a:bodyPr wrap="square" lIns="0" tIns="0" rIns="0" bIns="0" rtlCol="0" anchor="ctr"/>
          <a:lstStyle/>
          <a:p>
            <a:pPr indent="0" marL="0">
              <a:buNone/>
            </a:pPr>
            <a:r>
              <a:rPr lang="en-US" sz="1300" dirty="0">
                <a:solidFill>
                  <a:schemeClr val="tx1"/>
                </a:solidFill>
              </a:rPr>
              <a:t>Not enough: linked errors stay correlated. A graph model must learn which neighbours matter, over several hops.</a:t>
            </a:r>
            <a:endParaRPr lang="en-US" sz="13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406640" cy="566928"/>
          </a:xfrm>
          <a:prstGeom prst="rect">
            <a:avLst/>
          </a:prstGeom>
          <a:noFill/>
          <a:ln/>
        </p:spPr>
        <p:txBody>
          <a:bodyPr wrap="square" lIns="0" tIns="0" rIns="0" bIns="0" rtlCol="0" anchor="ctr"/>
          <a:lstStyle/>
          <a:p>
            <a:pPr algn="l" indent="0" marL="0">
              <a:buNone/>
            </a:pPr>
            <a:r>
              <a:rPr lang="en-US" sz="3000" b="1" dirty="0">
                <a:solidFill>
                  <a:schemeClr val="bg1"/>
                </a:solidFill>
                <a:latin typeface="+mj-lt" pitchFamily="34" charset="0"/>
                <a:ea typeface="+mj-lt" pitchFamily="34" charset="-122"/>
                <a:cs typeface="+mj-lt" pitchFamily="34" charset="-120"/>
              </a:rPr>
              <a:t>Conclusion and next steps</a:t>
            </a:r>
            <a:endParaRPr lang="en-US" sz="3000" dirty="0"/>
          </a:p>
        </p:txBody>
      </p:sp>
      <p:sp>
        <p:nvSpPr>
          <p:cNvPr id="3" name="Signal red"/>
          <p:cNvSpPr/>
          <p:nvPr/>
        </p:nvSpPr>
        <p:spPr>
          <a:xfrm>
            <a:off x="8028432" y="457200"/>
            <a:ext cx="146304" cy="146304"/>
          </a:xfrm>
          <a:prstGeom prst="ellipse">
            <a:avLst/>
          </a:prstGeom>
          <a:solidFill>
            <a:schemeClr val="accent5"/>
          </a:solidFill>
          <a:ln w="12700">
            <a:solidFill>
              <a:schemeClr val="accent5"/>
            </a:solidFill>
            <a:prstDash val="solid"/>
          </a:ln>
        </p:spPr>
      </p:sp>
      <p:sp>
        <p:nvSpPr>
          <p:cNvPr id="4" name="Signal amber"/>
          <p:cNvSpPr/>
          <p:nvPr/>
        </p:nvSpPr>
        <p:spPr>
          <a:xfrm>
            <a:off x="8247888" y="457200"/>
            <a:ext cx="146304" cy="146304"/>
          </a:xfrm>
          <a:prstGeom prst="ellipse">
            <a:avLst/>
          </a:prstGeom>
          <a:solidFill>
            <a:schemeClr val="accent4"/>
          </a:solidFill>
          <a:ln w="12700">
            <a:solidFill>
              <a:schemeClr val="accent4"/>
            </a:solidFill>
            <a:prstDash val="solid"/>
          </a:ln>
        </p:spPr>
      </p:sp>
      <p:sp>
        <p:nvSpPr>
          <p:cNvPr id="5" name="Signal green"/>
          <p:cNvSpPr/>
          <p:nvPr/>
        </p:nvSpPr>
        <p:spPr>
          <a:xfrm>
            <a:off x="8467344" y="457200"/>
            <a:ext cx="146304" cy="146304"/>
          </a:xfrm>
          <a:prstGeom prst="ellipse">
            <a:avLst/>
          </a:prstGeom>
          <a:solidFill>
            <a:schemeClr val="accent3"/>
          </a:solidFill>
          <a:ln w="12700">
            <a:solidFill>
              <a:schemeClr val="accent3"/>
            </a:solidFill>
            <a:prstDash val="solid"/>
          </a:ln>
        </p:spPr>
      </p:sp>
      <p:sp>
        <p:nvSpPr>
          <p:cNvPr id="6" name="Subtitle"/>
          <p:cNvSpPr txBox="1"/>
          <p:nvPr/>
        </p:nvSpPr>
        <p:spPr>
          <a:xfrm>
            <a:off x="457200" y="896112"/>
            <a:ext cx="8138160" cy="292608"/>
          </a:xfrm>
          <a:prstGeom prst="rect">
            <a:avLst/>
          </a:prstGeom>
          <a:noFill/>
          <a:ln/>
        </p:spPr>
        <p:txBody>
          <a:bodyPr wrap="square" lIns="0" tIns="0" rIns="0" bIns="0" rtlCol="0" anchor="ctr"/>
          <a:lstStyle/>
          <a:p>
            <a:pPr indent="0" marL="0">
              <a:buNone/>
            </a:pPr>
            <a:r>
              <a:rPr lang="en-US" sz="1600" dirty="0">
                <a:solidFill>
                  <a:schemeClr val="bg2"/>
                </a:solidFill>
              </a:rPr>
              <a:t>The AML part is complete: pipeline, six baselines and four gap experiments</a:t>
            </a:r>
            <a:endParaRPr lang="en-US" sz="1600" dirty="0"/>
          </a:p>
        </p:txBody>
      </p:sp>
      <p:sp>
        <p:nvSpPr>
          <p:cNvPr id="7" name="Badge 1"/>
          <p:cNvSpPr/>
          <p:nvPr/>
        </p:nvSpPr>
        <p:spPr>
          <a:xfrm>
            <a:off x="457200" y="1682496"/>
            <a:ext cx="384048" cy="384048"/>
          </a:xfrm>
          <a:prstGeom prst="ellipse">
            <a:avLst/>
          </a:prstGeom>
          <a:solidFill>
            <a:schemeClr val="accent4"/>
          </a:solidFill>
          <a:ln w="12700">
            <a:solidFill>
              <a:schemeClr val="accent4"/>
            </a:solidFill>
            <a:prstDash val="solid"/>
          </a:ln>
        </p:spPr>
      </p:sp>
      <p:sp>
        <p:nvSpPr>
          <p:cNvPr id="8" name="Badge text 1"/>
          <p:cNvSpPr txBox="1"/>
          <p:nvPr/>
        </p:nvSpPr>
        <p:spPr>
          <a:xfrm>
            <a:off x="457200" y="1682496"/>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9" name="Conclusion 1"/>
          <p:cNvSpPr txBox="1"/>
          <p:nvPr/>
        </p:nvSpPr>
        <p:spPr>
          <a:xfrm>
            <a:off x="1051560" y="1417320"/>
            <a:ext cx="3566160" cy="914400"/>
          </a:xfrm>
          <a:prstGeom prst="rect">
            <a:avLst/>
          </a:prstGeom>
          <a:noFill/>
          <a:ln/>
        </p:spPr>
        <p:txBody>
          <a:bodyPr wrap="square" lIns="0" tIns="0" rIns="0" bIns="0" rtlCol="0" anchor="ctr"/>
          <a:lstStyle/>
          <a:p>
            <a:pPr indent="0" marL="0">
              <a:buNone/>
            </a:pPr>
            <a:r>
              <a:rPr lang="en-US" sz="1400" dirty="0">
                <a:solidFill>
                  <a:schemeClr val="bg1"/>
                </a:solidFill>
              </a:rPr>
              <a:t>XGBoost is the best independent baseline: 3.02, 3.51 and 4.01 mph MAE at 15, 30 and 60 minutes.</a:t>
            </a:r>
            <a:endParaRPr lang="en-US" sz="1400" dirty="0"/>
          </a:p>
        </p:txBody>
      </p:sp>
      <p:sp>
        <p:nvSpPr>
          <p:cNvPr id="10" name="Badge 2"/>
          <p:cNvSpPr/>
          <p:nvPr/>
        </p:nvSpPr>
        <p:spPr>
          <a:xfrm>
            <a:off x="457200" y="2706624"/>
            <a:ext cx="384048" cy="384048"/>
          </a:xfrm>
          <a:prstGeom prst="ellipse">
            <a:avLst/>
          </a:prstGeom>
          <a:solidFill>
            <a:schemeClr val="accent4"/>
          </a:solidFill>
          <a:ln w="12700">
            <a:solidFill>
              <a:schemeClr val="accent4"/>
            </a:solidFill>
            <a:prstDash val="solid"/>
          </a:ln>
        </p:spPr>
      </p:sp>
      <p:sp>
        <p:nvSpPr>
          <p:cNvPr id="11" name="Badge text 2"/>
          <p:cNvSpPr txBox="1"/>
          <p:nvPr/>
        </p:nvSpPr>
        <p:spPr>
          <a:xfrm>
            <a:off x="457200" y="270662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2" name="Conclusion 2"/>
          <p:cNvSpPr txBox="1"/>
          <p:nvPr/>
        </p:nvSpPr>
        <p:spPr>
          <a:xfrm>
            <a:off x="1051560" y="2441448"/>
            <a:ext cx="3566160" cy="914400"/>
          </a:xfrm>
          <a:prstGeom prst="rect">
            <a:avLst/>
          </a:prstGeom>
          <a:noFill/>
          <a:ln/>
        </p:spPr>
        <p:txBody>
          <a:bodyPr wrap="square" lIns="0" tIns="0" rIns="0" bIns="0" rtlCol="0" anchor="ctr"/>
          <a:lstStyle/>
          <a:p>
            <a:pPr indent="0" marL="0">
              <a:buNone/>
            </a:pPr>
            <a:r>
              <a:rPr lang="en-US" sz="1400" dirty="0">
                <a:solidFill>
                  <a:schemeClr val="bg1"/>
                </a:solidFill>
              </a:rPr>
              <a:t>Its errors concentrate right after congestion starts and are shared between linked sensors.</a:t>
            </a:r>
            <a:endParaRPr lang="en-US" sz="1400" dirty="0"/>
          </a:p>
        </p:txBody>
      </p:sp>
      <p:sp>
        <p:nvSpPr>
          <p:cNvPr id="13" name="Badge 3"/>
          <p:cNvSpPr/>
          <p:nvPr/>
        </p:nvSpPr>
        <p:spPr>
          <a:xfrm>
            <a:off x="457200" y="3730752"/>
            <a:ext cx="384048" cy="384048"/>
          </a:xfrm>
          <a:prstGeom prst="ellipse">
            <a:avLst/>
          </a:prstGeom>
          <a:solidFill>
            <a:schemeClr val="accent4"/>
          </a:solidFill>
          <a:ln w="12700">
            <a:solidFill>
              <a:schemeClr val="accent4"/>
            </a:solidFill>
            <a:prstDash val="solid"/>
          </a:ln>
        </p:spPr>
      </p:sp>
      <p:sp>
        <p:nvSpPr>
          <p:cNvPr id="14" name="Badge text 3"/>
          <p:cNvSpPr txBox="1"/>
          <p:nvPr/>
        </p:nvSpPr>
        <p:spPr>
          <a:xfrm>
            <a:off x="457200" y="373075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5" name="Conclusion 3"/>
          <p:cNvSpPr txBox="1"/>
          <p:nvPr/>
        </p:nvSpPr>
        <p:spPr>
          <a:xfrm>
            <a:off x="1051560" y="3465576"/>
            <a:ext cx="3566160" cy="914400"/>
          </a:xfrm>
          <a:prstGeom prst="rect">
            <a:avLst/>
          </a:prstGeom>
          <a:noFill/>
          <a:ln/>
        </p:spPr>
        <p:txBody>
          <a:bodyPr wrap="square" lIns="0" tIns="0" rIns="0" bIns="0" rtlCol="0" anchor="ctr"/>
          <a:lstStyle/>
          <a:p>
            <a:pPr indent="0" marL="0">
              <a:buNone/>
            </a:pPr>
            <a:r>
              <a:rPr lang="en-US" sz="1400" dirty="0">
                <a:solidFill>
                  <a:schemeClr val="bg1"/>
                </a:solidFill>
              </a:rPr>
              <a:t>Neighbour speeds cut error by up to 3.5%, but hand-made features are not enough.</a:t>
            </a:r>
            <a:endParaRPr lang="en-US" sz="1400" dirty="0"/>
          </a:p>
        </p:txBody>
      </p:sp>
      <p:sp>
        <p:nvSpPr>
          <p:cNvPr id="16" name="Next panel"/>
          <p:cNvSpPr/>
          <p:nvPr/>
        </p:nvSpPr>
        <p:spPr>
          <a:xfrm>
            <a:off x="4846320" y="1371600"/>
            <a:ext cx="3840480" cy="3063240"/>
          </a:xfrm>
          <a:prstGeom prst="roundRect">
            <a:avLst>
              <a:gd name="adj" fmla="val 2388"/>
            </a:avLst>
          </a:prstGeom>
          <a:solidFill>
            <a:schemeClr val="tx2"/>
          </a:solidFill>
          <a:ln w="12700">
            <a:solidFill>
              <a:schemeClr val="tx2"/>
            </a:solidFill>
            <a:prstDash val="solid"/>
          </a:ln>
        </p:spPr>
      </p:sp>
      <p:sp>
        <p:nvSpPr>
          <p:cNvPr id="17" name="Next title"/>
          <p:cNvSpPr txBox="1"/>
          <p:nvPr/>
        </p:nvSpPr>
        <p:spPr>
          <a:xfrm>
            <a:off x="5029200" y="1481328"/>
            <a:ext cx="3474720" cy="310896"/>
          </a:xfrm>
          <a:prstGeom prst="rect">
            <a:avLst/>
          </a:prstGeom>
          <a:noFill/>
          <a:ln/>
        </p:spPr>
        <p:txBody>
          <a:bodyPr wrap="square" lIns="0" tIns="0" rIns="0" bIns="0" rtlCol="0" anchor="t"/>
          <a:lstStyle/>
          <a:p>
            <a:pPr indent="0" marL="0">
              <a:buNone/>
            </a:pPr>
            <a:r>
              <a:rPr lang="en-US" sz="1800" b="1" dirty="0">
                <a:solidFill>
                  <a:schemeClr val="accent4"/>
                </a:solidFill>
                <a:latin typeface="+mj-lt" pitchFamily="34" charset="0"/>
                <a:ea typeface="+mj-lt" pitchFamily="34" charset="-122"/>
                <a:cs typeface="+mj-lt" pitchFamily="34" charset="-120"/>
              </a:rPr>
              <a:t>Next: Phase 5</a:t>
            </a:r>
            <a:endParaRPr lang="en-US" sz="1800" dirty="0"/>
          </a:p>
        </p:txBody>
      </p:sp>
      <p:sp>
        <p:nvSpPr>
          <p:cNvPr id="18" name="Next body"/>
          <p:cNvSpPr txBox="1"/>
          <p:nvPr/>
        </p:nvSpPr>
        <p:spPr>
          <a:xfrm>
            <a:off x="5029200" y="1828800"/>
            <a:ext cx="3474720" cy="868680"/>
          </a:xfrm>
          <a:prstGeom prst="rect">
            <a:avLst/>
          </a:prstGeom>
          <a:noFill/>
          <a:ln/>
        </p:spPr>
        <p:txBody>
          <a:bodyPr wrap="square" lIns="0" tIns="0" rIns="0" bIns="0" rtlCol="0" anchor="t"/>
          <a:lstStyle/>
          <a:p>
            <a:pPr indent="0" marL="0">
              <a:buNone/>
            </a:pPr>
            <a:r>
              <a:rPr lang="en-US" sz="1400" dirty="0">
                <a:solidFill>
                  <a:schemeClr val="bg1"/>
                </a:solidFill>
              </a:rPr>
              <a:t>Graph attention (STGAT) and diffusion (DCRNN) models must beat these numbers on the same splits, windows, masks and metrics.</a:t>
            </a:r>
            <a:endParaRPr lang="en-US" sz="1400" dirty="0"/>
          </a:p>
        </p:txBody>
      </p:sp>
      <p:sp>
        <p:nvSpPr>
          <p:cNvPr id="19" name="Delivered title"/>
          <p:cNvSpPr txBox="1"/>
          <p:nvPr/>
        </p:nvSpPr>
        <p:spPr>
          <a:xfrm>
            <a:off x="5029200" y="2788920"/>
            <a:ext cx="3474720" cy="310896"/>
          </a:xfrm>
          <a:prstGeom prst="rect">
            <a:avLst/>
          </a:prstGeom>
          <a:noFill/>
          <a:ln/>
        </p:spPr>
        <p:txBody>
          <a:bodyPr wrap="square" lIns="0" tIns="0" rIns="0" bIns="0" rtlCol="0" anchor="t"/>
          <a:lstStyle/>
          <a:p>
            <a:pPr indent="0" marL="0">
              <a:buNone/>
            </a:pPr>
            <a:r>
              <a:rPr lang="en-US" sz="1800" b="1" dirty="0">
                <a:solidFill>
                  <a:schemeClr val="accent4"/>
                </a:solidFill>
                <a:latin typeface="+mj-lt" pitchFamily="34" charset="0"/>
                <a:ea typeface="+mj-lt" pitchFamily="34" charset="-122"/>
                <a:cs typeface="+mj-lt" pitchFamily="34" charset="-120"/>
              </a:rPr>
              <a:t>Delivered</a:t>
            </a:r>
            <a:endParaRPr lang="en-US" sz="1800" dirty="0"/>
          </a:p>
        </p:txBody>
      </p:sp>
      <p:sp>
        <p:nvSpPr>
          <p:cNvPr id="20" name="Delivered list"/>
          <p:cNvSpPr txBox="1"/>
          <p:nvPr/>
        </p:nvSpPr>
        <p:spPr>
          <a:xfrm>
            <a:off x="5029200" y="3127248"/>
            <a:ext cx="352044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rPr>
              <a:t>Reports for Phases 1 to 4, 39 automated tests</a:t>
            </a:r>
            <a:endParaRPr lang="en-US" sz="1300" dirty="0"/>
          </a:p>
          <a:p>
            <a:pPr marL="342900" indent="-342900">
              <a:spcAft>
                <a:spcPts val="400"/>
              </a:spcAft>
              <a:buSzPct val="100000"/>
              <a:buChar char="•"/>
            </a:pPr>
            <a:r>
              <a:rPr lang="en-US" sz="1300" dirty="0">
                <a:solidFill>
                  <a:schemeClr val="bg1"/>
                </a:solidFill>
              </a:rPr>
              <a:t>Live Streamlit dashboard (Sumit)</a:t>
            </a:r>
            <a:endParaRPr lang="en-US" sz="1300" dirty="0"/>
          </a:p>
          <a:p>
            <a:pPr marL="342900" indent="-342900">
              <a:spcAft>
                <a:spcPts val="400"/>
              </a:spcAft>
              <a:buSzPct val="100000"/>
              <a:buChar char="•"/>
            </a:pPr>
            <a:r>
              <a:rPr lang="en-US" sz="1200" dirty="0">
                <a:solidFill>
                  <a:schemeClr val="bg1"/>
                </a:solidFill>
              </a:rPr>
              <a:t>trafficflowamldl.streamlit.app</a:t>
            </a:r>
            <a:endParaRPr lang="en-US" sz="1300" dirty="0"/>
          </a:p>
          <a:p>
            <a:pPr marL="342900" indent="-342900">
              <a:spcAft>
                <a:spcPts val="400"/>
              </a:spcAft>
              <a:buSzPct val="100000"/>
              <a:buChar char="•"/>
            </a:pPr>
            <a:r>
              <a:rPr lang="en-US" sz="1100" dirty="0">
                <a:solidFill>
                  <a:schemeClr val="bg1"/>
                </a:solidFill>
              </a:rPr>
              <a:t>github.com/ManasSaxena14/TrafficFlowControl_AIML-DL_T036</a:t>
            </a:r>
            <a:endParaRPr lang="en-US" sz="13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Traffic Signal">
  <a:themeElements>
    <a:clrScheme name="Traffic Signal">
      <a:dk1>
        <a:srgbClr val="0B1730"/>
      </a:dk1>
      <a:lt1>
        <a:srgbClr val="FFFFFF"/>
      </a:lt1>
      <a:dk2>
        <a:srgbClr val="1E3A5F"/>
      </a:dk2>
      <a:lt2>
        <a:srgbClr val="EEF3F9"/>
      </a:lt2>
      <a:accent1>
        <a:srgbClr val="2A78D6"/>
      </a:accent1>
      <a:accent2>
        <a:srgbClr val="EB6834"/>
      </a:accent2>
      <a:accent3>
        <a:srgbClr val="1BAF7A"/>
      </a:accent3>
      <a:accent4>
        <a:srgbClr val="EDA100"/>
      </a:accent4>
      <a:accent5>
        <a:srgbClr val="D03B3B"/>
      </a:accent5>
      <a:accent6>
        <a:srgbClr val="5B6472"/>
      </a:accent6>
      <a:hlink>
        <a:srgbClr val="2A78D6"/>
      </a:hlink>
      <a:folHlink>
        <a:srgbClr val="5B6472"/>
      </a:folHlink>
    </a:clrScheme>
    <a:fontScheme name="Traffic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Congestion on a Road Network: AML Phase Results</dc:title>
  <dc:subject>Traffic flow forecasting on METR-LA: baselines and the gap</dc:subject>
  <dc:creator>Manas Saxena</dc:creator>
  <cp:lastModifiedBy>Manas Saxena</cp:lastModifiedBy>
  <cp:revision>1</cp:revision>
  <dcterms:created xsi:type="dcterms:W3CDTF">2026-10-26T17:11:52Z</dcterms:created>
  <dcterms:modified xsi:type="dcterms:W3CDTF">2026-10-26T17:11:52Z</dcterms:modified>
</cp:coreProperties>
</file>